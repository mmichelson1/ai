
<file path=[Content_Types].xml><?xml version="1.0" encoding="utf-8"?>
<Types xmlns="http://schemas.openxmlformats.org/package/2006/content-types"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66" r:id="rId12"/>
    <p:sldId id="267" r:id="rId13"/>
    <p:sldId id="269" r:id="rId15"/>
    <p:sldId id="278" r:id="rId26"/>
    <p:sldId id="270" r:id="rId16"/>
    <p:sldId id="271" r:id="rId17"/>
    <p:sldId id="272" r:id="rId18"/>
    <p:sldId id="268" r:id="rId14"/>
    <p:sldId id="273" r:id="rId19"/>
    <p:sldId id="274" r:id="rId20"/>
    <p:sldId id="275" r:id="rId21"/>
    <p:sldId id="276" r:id="rId22"/>
    <p:sldId id="277" r:id="rId23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jaHFbHZT8Yka7uQLIbygQ3FiJcW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 showGuides="1">
      <p:cViewPr varScale="1">
        <p:scale>
          <a:sx n="136" d="100"/>
          <a:sy n="136" d="100"/>
        </p:scale>
        <p:origin x="200" y="48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8.xml"/><Relationship Id="rId15" Type="http://schemas.openxmlformats.org/officeDocument/2006/relationships/slide" Target="slides/slide13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slide" Target="slides/slide22.xml"/><Relationship Id="rId23" Type="http://schemas.openxmlformats.org/officeDocument/2006/relationships/slide" Target="slides/slide23.xml"/><Relationship Id="rId24" Type="http://schemas.openxmlformats.org/officeDocument/2006/relationships/notesMaster" Target="notesMasters/notesMaster1.xml"/><Relationship Id="rId26" Type="http://schemas.openxmlformats.org/officeDocument/2006/relationships/slide" Target="slides/slide14.xml"/><Relationship Id="rId27" Type="http://customschemas.google.com/relationships/presentationmetadata" Target="metadata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857400" y="685800"/>
            <a:ext cx="34291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" name="Google Shape;18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" name="Google Shape;4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4" name="Google Shape;114;p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0" name="Google Shape;130;p1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1" name="Google Shape;151;p1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2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400" y="685800"/>
            <a:ext cx="34291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4" name="Google Shape;174;p1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2" name="Google Shape;202;p1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3" name="Google Shape;223;p1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8" name="Google Shape;238;p1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1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7" name="Google Shape;257;p1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7" name="Google Shape;267;p1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18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6" name="Google Shape;286;p1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19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6" name="Google Shape;306;p2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2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6" name="Google Shape;316;p2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2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21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2" name="Google Shape;332;p2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2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25"/>
          <p:cNvSpPr txBox="1">
            <a:spLocks noGrp="1"/>
          </p:cNvSpPr>
          <p:nvPr>
            <p:ph type="title"/>
          </p:nvPr>
        </p:nvSpPr>
        <p:spPr>
          <a:xfrm>
            <a:off x="257175" y="154484"/>
            <a:ext cx="4629150" cy="642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25"/>
          <p:cNvSpPr txBox="1">
            <a:spLocks noGrp="1"/>
          </p:cNvSpPr>
          <p:nvPr>
            <p:ph type="body" idx="1"/>
          </p:nvPr>
        </p:nvSpPr>
        <p:spPr>
          <a:xfrm>
            <a:off x="257175" y="900113"/>
            <a:ext cx="4629150" cy="2545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42900" algn="l" rtl="0">
              <a:lnSpc>
                <a:spcPct val="100000"/>
              </a:lnSpc>
              <a:spcBef>
                <a:spcPts val="20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20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20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20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20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20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20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20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20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5"/>
          <p:cNvSpPr txBox="1">
            <a:spLocks noGrp="1"/>
          </p:cNvSpPr>
          <p:nvPr>
            <p:ph type="dt" idx="10"/>
          </p:nvPr>
        </p:nvSpPr>
        <p:spPr>
          <a:xfrm>
            <a:off x="257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25"/>
          <p:cNvSpPr txBox="1">
            <a:spLocks noGrp="1"/>
          </p:cNvSpPr>
          <p:nvPr>
            <p:ph type="ftr" idx="11"/>
          </p:nvPr>
        </p:nvSpPr>
        <p:spPr>
          <a:xfrm>
            <a:off x="1757363" y="3575447"/>
            <a:ext cx="1628775" cy="205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5"/>
          <p:cNvSpPr txBox="1">
            <a:spLocks noGrp="1"/>
          </p:cNvSpPr>
          <p:nvPr>
            <p:ph type="sldNum" idx="12"/>
          </p:nvPr>
        </p:nvSpPr>
        <p:spPr>
          <a:xfrm>
            <a:off x="3686175" y="3575447"/>
            <a:ext cx="1200150" cy="205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6"/>
          <p:cNvSpPr txBox="1">
            <a:spLocks noGrp="1"/>
          </p:cNvSpPr>
          <p:nvPr>
            <p:ph type="title"/>
          </p:nvPr>
        </p:nvSpPr>
        <p:spPr>
          <a:xfrm>
            <a:off x="511975" y="297700"/>
            <a:ext cx="8120100" cy="6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bri"/>
              <a:buNone/>
              <a:defRPr sz="3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  <a:defRPr sz="3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26"/>
          <p:cNvSpPr txBox="1">
            <a:spLocks noGrp="1"/>
          </p:cNvSpPr>
          <p:nvPr>
            <p:ph type="body" idx="1"/>
          </p:nvPr>
        </p:nvSpPr>
        <p:spPr>
          <a:xfrm>
            <a:off x="511975" y="914400"/>
            <a:ext cx="8120100" cy="35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○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■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○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■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○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2000"/>
              <a:buFont typeface="Arial"/>
              <a:buChar char="■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gif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5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6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jpg"/><Relationship Id="rId4" Type="http://schemas.openxmlformats.org/officeDocument/2006/relationships/image" Target="../media/image8.jpg"/><Relationship Id="rId5" Type="http://schemas.openxmlformats.org/officeDocument/2006/relationships/image" Target="../media/image9.jpg"/><Relationship Id="rId6" Type="http://schemas.openxmlformats.org/officeDocument/2006/relationships/image" Target="../media/image10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jpg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12.jpg"/><Relationship Id="rId5" Type="http://schemas.openxmlformats.org/officeDocument/2006/relationships/image" Target="../media/image13.jpg"/><Relationship Id="rId6" Type="http://schemas.openxmlformats.org/officeDocument/2006/relationships/image" Target="../media/image14.jpg"/><Relationship Id="rId7" Type="http://schemas.openxmlformats.org/officeDocument/2006/relationships/image" Target="../media/image15.jpg"/><Relationship Id="rId8" Type="http://schemas.openxmlformats.org/officeDocument/2006/relationships/image" Target="../media/image16.jpg"/><Relationship Id="rId9" Type="http://schemas.openxmlformats.org/officeDocument/2006/relationships/image" Target="../media/image17.jpg"/><Relationship Id="rId10" Type="http://schemas.openxmlformats.org/officeDocument/2006/relationships/image" Target="../media/image18.png"/><Relationship Id="rId11" Type="http://schemas.openxmlformats.org/officeDocument/2006/relationships/image" Target="../media/image19.jpg"/><Relationship Id="rId12" Type="http://schemas.openxmlformats.org/officeDocument/2006/relationships/image" Target="../media/image20.jpg"/><Relationship Id="rId13" Type="http://schemas.openxmlformats.org/officeDocument/2006/relationships/image" Target="../media/image21.jpg"/><Relationship Id="rId14" Type="http://schemas.openxmlformats.org/officeDocument/2006/relationships/image" Target="../media/image22.jpg"/><Relationship Id="rId15" Type="http://schemas.openxmlformats.org/officeDocument/2006/relationships/image" Target="../media/image23.jpg"/><Relationship Id="rId16" Type="http://schemas.openxmlformats.org/officeDocument/2006/relationships/image" Target="../media/image2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25.jpg"/><Relationship Id="rId5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7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6.png"/><Relationship Id="rId4" Type="http://schemas.openxmlformats.org/officeDocument/2006/relationships/image" Target="../media/image2.gif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6.png"/><Relationship Id="rId4" Type="http://schemas.openxmlformats.org/officeDocument/2006/relationships/image" Target="../media/image2.gif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6.png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626"/>
        </a:solid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"/>
          <p:cNvSpPr txBox="1"/>
          <p:nvPr/>
        </p:nvSpPr>
        <p:spPr>
          <a:xfrm>
            <a:off x="5166052" y="2971800"/>
            <a:ext cx="3648753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3. SUBSCRIBE</a:t>
            </a:r>
            <a:r>
              <a:rPr lang="en-US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1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Luma.com</a:t>
            </a:r>
            <a:r>
              <a:rPr lang="en-US" sz="20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/AICATL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"/>
          <p:cNvSpPr txBox="1"/>
          <p:nvPr/>
        </p:nvSpPr>
        <p:spPr>
          <a:xfrm>
            <a:off x="5291210" y="868680"/>
            <a:ext cx="385279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2. WIFI: </a:t>
            </a:r>
            <a:r>
              <a:rPr lang="en-US" sz="28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Hudson Grille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"/>
          <p:cNvSpPr txBox="1"/>
          <p:nvPr/>
        </p:nvSpPr>
        <p:spPr>
          <a:xfrm>
            <a:off x="5291210" y="274320"/>
            <a:ext cx="3648753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1. ORDER DINNER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8C4332B4-F479-6B56-A53B-8B3A2CE443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784" y="3639312"/>
            <a:ext cx="960120" cy="9601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D03AC25-4EE4-E075-45F4-B12485584A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24" y="9426"/>
            <a:ext cx="5143500" cy="5143500"/>
          </a:xfrm>
          <a:prstGeom prst="rect">
            <a:avLst/>
          </a:prstGeom>
        </p:spPr>
      </p:pic>
      <p:pic>
        <p:nvPicPr>
          <p:cNvPr id="4" name="Picture 3" descr="A screenshot of a login page&#10;&#10;AI-generated content may be incorrect.">
            <a:extLst>
              <a:ext uri="{FF2B5EF4-FFF2-40B4-BE49-F238E27FC236}">
                <a16:creationId xmlns:a16="http://schemas.microsoft.com/office/drawing/2014/main" id="{0C728C46-52C7-54E8-97DB-462F7082C3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6440" y="1417320"/>
            <a:ext cx="1901952" cy="145389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"/>
          <p:cNvSpPr txBox="1">
            <a:spLocks noGrp="1"/>
          </p:cNvSpPr>
          <p:nvPr>
            <p:ph type="title"/>
          </p:nvPr>
        </p:nvSpPr>
        <p:spPr>
          <a:xfrm>
            <a:off x="628650" y="357281"/>
            <a:ext cx="7886700" cy="99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50" rIns="68550" bIns="3425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Calibri"/>
              <a:buNone/>
            </a:pPr>
            <a:r>
              <a:rPr lang="en-US" b="1"/>
              <a:t>Welcome Everyone! </a:t>
            </a:r>
            <a:endParaRPr/>
          </a:p>
        </p:txBody>
      </p:sp>
      <p:sp>
        <p:nvSpPr>
          <p:cNvPr id="31" name="Google Shape;31;p2"/>
          <p:cNvSpPr txBox="1">
            <a:spLocks noGrp="1"/>
          </p:cNvSpPr>
          <p:nvPr>
            <p:ph type="body" idx="1"/>
          </p:nvPr>
        </p:nvSpPr>
        <p:spPr>
          <a:xfrm>
            <a:off x="275599" y="2751942"/>
            <a:ext cx="7271012" cy="2053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50" rIns="68550" bIns="34250" anchor="t" anchorCtr="0">
            <a:normAutofit fontScale="92500" lnSpcReduction="20000"/>
          </a:bodyPr>
          <a:lstStyle/>
          <a:p>
            <a:pPr marL="257175" lvl="0" indent="0" algn="l" rtl="0">
              <a:lnSpc>
                <a:spcPct val="115000"/>
              </a:lnSpc>
              <a:spcBef>
                <a:spcPts val="750"/>
              </a:spcBef>
              <a:spcAft>
                <a:spcPts val="0"/>
              </a:spcAft>
              <a:buSzPct val="60811"/>
              <a:buNone/>
            </a:pPr>
            <a:endParaRPr/>
          </a:p>
          <a:p>
            <a:pPr marL="685783" lvl="1" indent="-276238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31040"/>
              <a:buChar char="•"/>
            </a:pPr>
            <a:r>
              <a:rPr lang="en-US" sz="1650"/>
              <a:t>These young engineers questioned what would happen with humans in a world dominated by AI and what could they do about it. They kept meeting and talking about AI asking what will our purpose be?</a:t>
            </a:r>
            <a:endParaRPr sz="1650"/>
          </a:p>
          <a:p>
            <a:pPr marL="51435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17936"/>
              <a:buNone/>
            </a:pPr>
            <a:endParaRPr sz="1650"/>
          </a:p>
          <a:p>
            <a:pPr marL="685783" lvl="1" indent="-276238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31040"/>
              <a:buChar char="•"/>
            </a:pPr>
            <a:r>
              <a:rPr lang="en-US" sz="1650"/>
              <a:t>They decided to find a way to help humans by arranging in-person meetings like this at scale to talk about and learn all aspects of AI</a:t>
            </a:r>
            <a:endParaRPr sz="1650"/>
          </a:p>
        </p:txBody>
      </p:sp>
      <p:pic>
        <p:nvPicPr>
          <p:cNvPr id="32" name="Google Shape;32;p2" descr="A logo with orange letters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93669" y="4322703"/>
            <a:ext cx="1074732" cy="6200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2" descr="A group of men sitting in chairs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80273" y="1219987"/>
            <a:ext cx="2988128" cy="188263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2"/>
          <p:cNvSpPr txBox="1"/>
          <p:nvPr/>
        </p:nvSpPr>
        <p:spPr>
          <a:xfrm>
            <a:off x="696727" y="1417637"/>
            <a:ext cx="5044650" cy="1487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7938" marR="0" lvl="0" indent="95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AI Collective is a grassroots community created in San Francisco, Feb. 2023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by ten AI engineers at leading AI companies who knew what AI was capable of doing.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"/>
          <p:cNvSpPr txBox="1">
            <a:spLocks noGrp="1"/>
          </p:cNvSpPr>
          <p:nvPr>
            <p:ph type="title"/>
          </p:nvPr>
        </p:nvSpPr>
        <p:spPr>
          <a:xfrm>
            <a:off x="628650" y="357281"/>
            <a:ext cx="7886700" cy="99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50" rIns="68550" bIns="3425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Calibri"/>
              <a:buNone/>
            </a:pPr>
            <a:r>
              <a:rPr lang="en-US" b="1"/>
              <a:t>Our Mission</a:t>
            </a:r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body" idx="1"/>
          </p:nvPr>
        </p:nvSpPr>
        <p:spPr>
          <a:xfrm>
            <a:off x="628650" y="3243840"/>
            <a:ext cx="8176500" cy="1733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50" rIns="68550" bIns="34250" anchor="t" anchorCtr="0">
            <a:normAutofit/>
          </a:bodyPr>
          <a:lstStyle/>
          <a:p>
            <a:pPr marL="342892" lvl="0" indent="-29407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1800"/>
              <a:t>Together we share what we know and learn how to control AI rather than allowing AI to control humans</a:t>
            </a:r>
            <a:endParaRPr sz="1800"/>
          </a:p>
          <a:p>
            <a:pPr marL="342892" lvl="0" indent="-29407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1800"/>
              <a:t>We believe AI is for everyone and nobody should be left behind when it comes to AI education </a:t>
            </a:r>
            <a:endParaRPr sz="1800"/>
          </a:p>
          <a:p>
            <a:pPr marL="342892" lvl="0" indent="-29407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1800"/>
              <a:t>We meet AI professionals where they are at every level</a:t>
            </a:r>
            <a:endParaRPr sz="1800"/>
          </a:p>
          <a:p>
            <a:pPr marL="257175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800"/>
          </a:p>
        </p:txBody>
      </p:sp>
      <p:pic>
        <p:nvPicPr>
          <p:cNvPr id="41" name="Google Shape;41;p3" descr="A logo with orange letters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93670" y="4322703"/>
            <a:ext cx="1074731" cy="620039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42;p3" descr="A group of people sitting in a room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82816" y="1241502"/>
            <a:ext cx="2885585" cy="1818024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3"/>
          <p:cNvSpPr txBox="1"/>
          <p:nvPr/>
        </p:nvSpPr>
        <p:spPr>
          <a:xfrm>
            <a:off x="628650" y="1241502"/>
            <a:ext cx="5354166" cy="1984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892" marR="0" lvl="0" indent="-29407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Their “why” became our mission to represent humans in AI, protect human flourishing, and actively educate and upskill communities around the world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892" marR="0" lvl="0" indent="-29407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Our goal is to become a voice for advocacy with governments and AI companies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4"/>
          <p:cNvSpPr txBox="1"/>
          <p:nvPr/>
        </p:nvSpPr>
        <p:spPr>
          <a:xfrm>
            <a:off x="1452450" y="264700"/>
            <a:ext cx="6239100" cy="41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000"/>
              <a:buFont typeface="Georgia"/>
              <a:buNone/>
            </a:pPr>
            <a:r>
              <a:rPr lang="en-US" sz="2000" b="1" i="0" u="none" strike="noStrike" cap="none">
                <a:solidFill>
                  <a:srgbClr val="374151"/>
                </a:solidFill>
                <a:latin typeface="Calibri"/>
                <a:ea typeface="Georgia"/>
                <a:cs typeface="Georgia"/>
                <a:sym typeface="Georgia"/>
              </a:rPr>
              <a:t>OUR COMMUNITY VALUES</a:t>
            </a:r>
            <a:endParaRPr sz="2000" b="1" i="1" u="none" strike="noStrike" cap="none">
              <a:solidFill>
                <a:srgbClr val="6D7583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49" name="Google Shape;49;p4" title="Header.jpg"/>
          <p:cNvPicPr preferRelativeResize="0"/>
          <p:nvPr/>
        </p:nvPicPr>
        <p:blipFill rotWithShape="1">
          <a:blip r:embed="rId3">
            <a:alphaModFix/>
          </a:blip>
          <a:srcRect t="47092" b="47092"/>
          <a:stretch/>
        </p:blipFill>
        <p:spPr>
          <a:xfrm flipH="1">
            <a:off x="3911779" y="676600"/>
            <a:ext cx="1320446" cy="3840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4"/>
          <p:cNvSpPr txBox="1"/>
          <p:nvPr/>
        </p:nvSpPr>
        <p:spPr>
          <a:xfrm>
            <a:off x="771425" y="715000"/>
            <a:ext cx="7581900" cy="20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457200" marR="0" lvl="0" indent="-355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000"/>
              <a:buFont typeface="Georgia"/>
              <a:buAutoNum type="arabicPeriod"/>
            </a:pPr>
            <a:r>
              <a:rPr lang="en-US" sz="2000" b="1" i="0" u="none" strike="noStrike" cap="none">
                <a:solidFill>
                  <a:srgbClr val="374151"/>
                </a:solidFill>
                <a:latin typeface="Calibri"/>
                <a:ea typeface="Georgia"/>
                <a:cs typeface="Georgia"/>
                <a:sym typeface="Georgia"/>
              </a:rPr>
              <a:t>Connection</a:t>
            </a:r>
            <a:r>
              <a:rPr lang="en-US" sz="2000" b="0" i="0" u="none" strike="noStrike" cap="none">
                <a:solidFill>
                  <a:srgbClr val="374151"/>
                </a:solidFill>
                <a:latin typeface="Calibri"/>
                <a:ea typeface="Georgia"/>
                <a:cs typeface="Georgia"/>
                <a:sym typeface="Georgia"/>
              </a:rPr>
              <a:t>: The Collective’s strength is 1+1 connections</a:t>
            </a:r>
            <a:endParaRPr sz="2000" b="0" i="0" u="none" strike="noStrike" cap="none">
              <a:solidFill>
                <a:srgbClr val="37415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457200" marR="0" lvl="0" indent="-355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000"/>
              <a:buFont typeface="Georgia"/>
              <a:buAutoNum type="arabicPeriod"/>
            </a:pPr>
            <a:r>
              <a:rPr lang="en-US" sz="2000" b="1" i="0" u="none" strike="noStrike" cap="none">
                <a:solidFill>
                  <a:srgbClr val="374151"/>
                </a:solidFill>
                <a:latin typeface="Calibri"/>
                <a:ea typeface="Georgia"/>
                <a:cs typeface="Georgia"/>
                <a:sym typeface="Georgia"/>
              </a:rPr>
              <a:t>Positive Sum</a:t>
            </a:r>
            <a:r>
              <a:rPr lang="en-US" sz="2000" b="0" i="0" u="none" strike="noStrike" cap="none">
                <a:solidFill>
                  <a:srgbClr val="374151"/>
                </a:solidFill>
                <a:latin typeface="Calibri"/>
                <a:ea typeface="Georgia"/>
                <a:cs typeface="Georgia"/>
                <a:sym typeface="Georgia"/>
              </a:rPr>
              <a:t>: If we all think win-win, we all win</a:t>
            </a:r>
            <a:endParaRPr sz="2000" b="0" i="0" u="none" strike="noStrike" cap="none">
              <a:solidFill>
                <a:srgbClr val="37415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457200" marR="0" lvl="0" indent="-355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000"/>
              <a:buFont typeface="Georgia"/>
              <a:buAutoNum type="arabicPeriod"/>
            </a:pPr>
            <a:r>
              <a:rPr lang="en-US" sz="2000" b="1" i="0" u="none" strike="noStrike" cap="none">
                <a:solidFill>
                  <a:srgbClr val="374151"/>
                </a:solidFill>
                <a:latin typeface="Calibri"/>
                <a:ea typeface="Georgia"/>
                <a:cs typeface="Georgia"/>
                <a:sym typeface="Georgia"/>
              </a:rPr>
              <a:t>Curiosity</a:t>
            </a:r>
            <a:r>
              <a:rPr lang="en-US" sz="2000" b="0" i="0" u="none" strike="noStrike" cap="none">
                <a:solidFill>
                  <a:srgbClr val="374151"/>
                </a:solidFill>
                <a:latin typeface="Calibri"/>
                <a:ea typeface="Georgia"/>
                <a:cs typeface="Georgia"/>
                <a:sym typeface="Georgia"/>
              </a:rPr>
              <a:t>: Everyone has something to teach you</a:t>
            </a:r>
            <a:endParaRPr sz="2000" b="0" i="0" u="none" strike="noStrike" cap="none">
              <a:solidFill>
                <a:srgbClr val="37415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457200" marR="0" lvl="0" indent="-355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000"/>
              <a:buFont typeface="Georgia"/>
              <a:buAutoNum type="arabicPeriod"/>
            </a:pPr>
            <a:r>
              <a:rPr lang="en-US" sz="2000" b="1" i="0" u="none" strike="noStrike" cap="none">
                <a:solidFill>
                  <a:srgbClr val="374151"/>
                </a:solidFill>
                <a:latin typeface="Calibri"/>
                <a:ea typeface="Georgia"/>
                <a:cs typeface="Georgia"/>
                <a:sym typeface="Georgia"/>
              </a:rPr>
              <a:t>Belonging</a:t>
            </a:r>
            <a:r>
              <a:rPr lang="en-US" sz="2000" b="0" i="0" u="none" strike="noStrike" cap="none">
                <a:solidFill>
                  <a:srgbClr val="374151"/>
                </a:solidFill>
                <a:latin typeface="Calibri"/>
                <a:ea typeface="Georgia"/>
                <a:cs typeface="Georgia"/>
                <a:sym typeface="Georgia"/>
              </a:rPr>
              <a:t>: Create the community you’ve been searching for</a:t>
            </a:r>
            <a:endParaRPr sz="2000" b="0" i="0" u="none" strike="noStrike" cap="none">
              <a:solidFill>
                <a:srgbClr val="37415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51" name="Google Shape;51;p4" title="5.jpg"/>
          <p:cNvPicPr preferRelativeResize="0"/>
          <p:nvPr/>
        </p:nvPicPr>
        <p:blipFill rotWithShape="1">
          <a:blip r:embed="rId4">
            <a:alphaModFix/>
          </a:blip>
          <a:srcRect l="7345" r="7353"/>
          <a:stretch/>
        </p:blipFill>
        <p:spPr>
          <a:xfrm>
            <a:off x="3253338" y="2731300"/>
            <a:ext cx="2617800" cy="17262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  <p:pic>
        <p:nvPicPr>
          <p:cNvPr id="52" name="Google Shape;52;p4" title="1.jpg"/>
          <p:cNvPicPr preferRelativeResize="0"/>
          <p:nvPr/>
        </p:nvPicPr>
        <p:blipFill rotWithShape="1">
          <a:blip r:embed="rId5">
            <a:alphaModFix/>
          </a:blip>
          <a:srcRect l="13479" t="22124" r="20089"/>
          <a:stretch/>
        </p:blipFill>
        <p:spPr>
          <a:xfrm>
            <a:off x="502263" y="2731300"/>
            <a:ext cx="2617800" cy="17262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  <p:pic>
        <p:nvPicPr>
          <p:cNvPr id="53" name="Google Shape;53;p4" title="7.jpg"/>
          <p:cNvPicPr preferRelativeResize="0"/>
          <p:nvPr/>
        </p:nvPicPr>
        <p:blipFill rotWithShape="1">
          <a:blip r:embed="rId6">
            <a:alphaModFix/>
          </a:blip>
          <a:srcRect l="2606" r="2616"/>
          <a:stretch/>
        </p:blipFill>
        <p:spPr>
          <a:xfrm>
            <a:off x="6004388" y="2731325"/>
            <a:ext cx="2617800" cy="17262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5" descr="A logo with a white letter in a blue and red circle&#10;&#10;AI-generated content may be incorrect.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5659610" y="-73794"/>
            <a:ext cx="4945441" cy="5291088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5"/>
          <p:cNvSpPr txBox="1">
            <a:spLocks noGrp="1"/>
          </p:cNvSpPr>
          <p:nvPr>
            <p:ph type="title"/>
          </p:nvPr>
        </p:nvSpPr>
        <p:spPr>
          <a:xfrm>
            <a:off x="628650" y="357281"/>
            <a:ext cx="7886700" cy="99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50" rIns="68550" bIns="3425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Calibri"/>
              <a:buNone/>
            </a:pPr>
            <a:r>
              <a:rPr lang="en-US" sz="3075" b="1"/>
              <a:t>Local Impact Global Scale </a:t>
            </a:r>
            <a:endParaRPr sz="3075"/>
          </a:p>
        </p:txBody>
      </p:sp>
      <p:sp>
        <p:nvSpPr>
          <p:cNvPr id="60" name="Google Shape;60;p5"/>
          <p:cNvSpPr txBox="1">
            <a:spLocks noGrp="1"/>
          </p:cNvSpPr>
          <p:nvPr>
            <p:ph type="body" idx="1"/>
          </p:nvPr>
        </p:nvSpPr>
        <p:spPr>
          <a:xfrm>
            <a:off x="691894" y="1143000"/>
            <a:ext cx="6908252" cy="384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50" rIns="68550" bIns="34250" anchor="t" anchorCtr="0">
            <a:normAutofit lnSpcReduction="1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  <a:buSzPts val="1100"/>
              <a:buNone/>
            </a:pPr>
            <a:r>
              <a:rPr sz="1350" b="0" i="0">
                <a:solidFill>
                  <a:srgbClr val="000000"/>
                </a:solidFill>
                <a:latin typeface="Calibri"/>
              </a:rPr>
              <a:t>The AI Collective is the world’s largest grassroots AI community.</a:t>
            </a:r>
            <a:endParaRPr/>
          </a:p>
          <a:p>
            <a:pPr marL="0" indent="0">
              <a:spcBef>
                <a:spcPts val="800"/>
              </a:spcBef>
              <a:spcAft>
                <a:spcPts val="700"/>
              </a:spcAft>
              <a:buNone/>
            </a:pPr>
            <a:r>
              <a:rPr sz="1350" b="1" i="0">
                <a:solidFill>
                  <a:srgbClr val="000000"/>
                </a:solidFill>
                <a:latin typeface="Calibri"/>
              </a:rPr>
              <a:t>The AI Collective Global</a:t>
            </a:r>
            <a:r>
              <a:rPr sz="1350" b="0" i="0">
                <a:solidFill>
                  <a:srgbClr val="000000"/>
                </a:solidFill>
                <a:latin typeface="Calibri"/>
              </a:rPr>
              <a:t> = 511,000+ members, 300+ chapters in 75 countries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50" b="0" i="0">
                <a:solidFill>
                  <a:srgbClr val="000000"/>
                </a:solidFill>
                <a:latin typeface="Calibri"/>
              </a:rPr>
              <a:t>We added 50,000+ members in the last 30 days.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50" b="0" i="0">
                <a:solidFill>
                  <a:srgbClr val="000000"/>
                </a:solidFill>
                <a:latin typeface="Calibri"/>
              </a:rPr>
              <a:t>When you signed up to join tonight’s event, you became a member.</a:t>
            </a:r>
          </a:p>
          <a:p>
            <a:pPr marL="0" indent="0">
              <a:spcBef>
                <a:spcPts val="800"/>
              </a:spcBef>
              <a:spcAft>
                <a:spcPts val="700"/>
              </a:spcAft>
              <a:buNone/>
            </a:pPr>
            <a:r>
              <a:rPr sz="1350" b="1" i="0">
                <a:solidFill>
                  <a:srgbClr val="000000"/>
                </a:solidFill>
                <a:latin typeface="Calibri"/>
              </a:rPr>
              <a:t>Our Region</a:t>
            </a:r>
            <a:r>
              <a:rPr sz="1350" b="0" i="0">
                <a:solidFill>
                  <a:srgbClr val="000000"/>
                </a:solidFill>
                <a:latin typeface="Calibri"/>
              </a:rPr>
              <a:t> = South Central: 17 chapters, 7,800+ members.  Carolinas: 6 chapters, 560 members.</a:t>
            </a:r>
          </a:p>
          <a:p>
            <a:pPr marL="0" indent="0">
              <a:spcBef>
                <a:spcPts val="800"/>
              </a:spcBef>
              <a:spcAft>
                <a:spcPts val="700"/>
              </a:spcAft>
              <a:buNone/>
            </a:pPr>
            <a:r>
              <a:rPr sz="1350" b="1" i="0">
                <a:solidFill>
                  <a:srgbClr val="000000"/>
                </a:solidFill>
                <a:latin typeface="Calibri"/>
              </a:rPr>
              <a:t>The AI Collective Atlanta</a:t>
            </a:r>
            <a:r>
              <a:rPr sz="1350" b="0" i="0">
                <a:solidFill>
                  <a:srgbClr val="000000"/>
                </a:solidFill>
                <a:latin typeface="Calibri"/>
              </a:rPr>
              <a:t> = 4,800+ members, 115+ events since July 2025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50" b="0" i="0">
                <a:solidFill>
                  <a:srgbClr val="000000"/>
                </a:solidFill>
                <a:latin typeface="Calibri"/>
              </a:rPr>
              <a:t>We meet 2 to 3 times a week all over the Atlanta area.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50" b="0" i="0">
                <a:solidFill>
                  <a:srgbClr val="000000"/>
                </a:solidFill>
                <a:latin typeface="Calibri"/>
              </a:rPr>
              <a:t>24 organizers in Atlanta, and we’re adding more to cover the metro area and lead committees and special interest groups.</a:t>
            </a:r>
          </a:p>
        </p:txBody>
      </p:sp>
      <p:pic>
        <p:nvPicPr>
          <p:cNvPr id="61" name="Google Shape;61;p5" descr="A logo with orange letters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93670" y="4322703"/>
            <a:ext cx="1074731" cy="6200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6" descr="A logo with orange letters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93669" y="4322703"/>
            <a:ext cx="1074732" cy="62003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6"/>
          <p:cNvSpPr txBox="1">
            <a:spLocks noGrp="1"/>
          </p:cNvSpPr>
          <p:nvPr>
            <p:ph type="title"/>
          </p:nvPr>
        </p:nvSpPr>
        <p:spPr>
          <a:xfrm>
            <a:off x="0" y="273844"/>
            <a:ext cx="9141750" cy="822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50" rIns="68550" bIns="3425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32"/>
              <a:buFont typeface="Calibri"/>
              <a:buNone/>
            </a:pPr>
            <a:r>
              <a:rPr lang="en-US" sz="4600"/>
              <a:t>The AI Collective - Atlanta - Team</a:t>
            </a:r>
            <a:endParaRPr sz="46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Calibri"/>
              <a:buNone/>
            </a:pPr>
            <a:endParaRPr b="1"/>
          </a:p>
        </p:txBody>
      </p:sp>
      <p:pic>
        <p:nvPicPr>
          <p:cNvPr id="68" name="Google Shape;68;p6" title="1751729427255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70633" y="1421790"/>
            <a:ext cx="1021514" cy="102151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6" title="1752272941304.jp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765950" y="1421790"/>
            <a:ext cx="1021515" cy="1021514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6" title="1620648297026.jp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217545" y="1412502"/>
            <a:ext cx="1040104" cy="1040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6" title="1516272934485.jp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416162" y="1421800"/>
            <a:ext cx="1021501" cy="102149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6"/>
          <p:cNvSpPr txBox="1"/>
          <p:nvPr/>
        </p:nvSpPr>
        <p:spPr>
          <a:xfrm>
            <a:off x="3012913" y="2417610"/>
            <a:ext cx="1170619" cy="4553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975" tIns="45975" rIns="45975" bIns="45975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755"/>
              </a:spcBef>
              <a:spcAft>
                <a:spcPts val="755"/>
              </a:spcAft>
              <a:buClr>
                <a:srgbClr val="000000"/>
              </a:buClr>
              <a:buSzPts val="730"/>
              <a:buFont typeface="Arial"/>
              <a:buNone/>
            </a:pPr>
            <a:r>
              <a:rPr lang="en-US" sz="73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Tyler Sztuka</a:t>
            </a:r>
            <a:endParaRPr sz="428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3" name="Google Shape;73;p6" title="Michelson Headshot 2026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89110" y="1439732"/>
            <a:ext cx="1068236" cy="967039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6"/>
          <p:cNvSpPr txBox="1"/>
          <p:nvPr/>
        </p:nvSpPr>
        <p:spPr>
          <a:xfrm>
            <a:off x="1733833" y="2413195"/>
            <a:ext cx="1170619" cy="4553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975" tIns="45975" rIns="45975" bIns="45975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755"/>
              </a:spcBef>
              <a:spcAft>
                <a:spcPts val="755"/>
              </a:spcAft>
              <a:buClr>
                <a:srgbClr val="000000"/>
              </a:buClr>
              <a:buSzPts val="730"/>
              <a:buFont typeface="Arial"/>
              <a:buNone/>
            </a:pPr>
            <a:r>
              <a:rPr lang="en-US" sz="73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Kenneth Eaton</a:t>
            </a:r>
            <a:endParaRPr sz="428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6"/>
          <p:cNvSpPr txBox="1"/>
          <p:nvPr/>
        </p:nvSpPr>
        <p:spPr>
          <a:xfrm>
            <a:off x="454753" y="2417610"/>
            <a:ext cx="1170619" cy="4553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975" tIns="45975" rIns="45975" bIns="45975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755"/>
              </a:spcBef>
              <a:spcAft>
                <a:spcPts val="755"/>
              </a:spcAft>
              <a:buClr>
                <a:srgbClr val="000000"/>
              </a:buClr>
              <a:buSzPts val="730"/>
              <a:buFont typeface="Arial"/>
              <a:buNone/>
            </a:pPr>
            <a:r>
              <a:rPr lang="en-US" sz="73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Mark Michelson</a:t>
            </a:r>
            <a:endParaRPr sz="73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6"/>
          <p:cNvSpPr txBox="1"/>
          <p:nvPr/>
        </p:nvSpPr>
        <p:spPr>
          <a:xfrm>
            <a:off x="7697791" y="2429489"/>
            <a:ext cx="1170619" cy="4553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975" tIns="45975" rIns="45975" bIns="45975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755"/>
              </a:spcBef>
              <a:spcAft>
                <a:spcPts val="755"/>
              </a:spcAft>
              <a:buClr>
                <a:srgbClr val="000000"/>
              </a:buClr>
              <a:buSzPts val="730"/>
              <a:buFont typeface="Arial"/>
              <a:buNone/>
            </a:pPr>
            <a:r>
              <a:rPr lang="en-US" sz="73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Suzel Wyvill-Jones</a:t>
            </a:r>
            <a:endParaRPr sz="428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6"/>
          <p:cNvSpPr txBox="1"/>
          <p:nvPr/>
        </p:nvSpPr>
        <p:spPr>
          <a:xfrm>
            <a:off x="5339732" y="2438777"/>
            <a:ext cx="1170619" cy="4553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975" tIns="45975" rIns="45975" bIns="45975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755"/>
              </a:spcBef>
              <a:spcAft>
                <a:spcPts val="755"/>
              </a:spcAft>
              <a:buClr>
                <a:srgbClr val="000000"/>
              </a:buClr>
              <a:buSzPts val="730"/>
              <a:buFont typeface="Arial"/>
              <a:buNone/>
            </a:pPr>
            <a:r>
              <a:rPr lang="en-US" sz="73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Sonal Shah Chandler</a:t>
            </a:r>
            <a:endParaRPr sz="428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6"/>
          <p:cNvSpPr txBox="1"/>
          <p:nvPr/>
        </p:nvSpPr>
        <p:spPr>
          <a:xfrm>
            <a:off x="6592426" y="2441948"/>
            <a:ext cx="1170619" cy="4553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975" tIns="45975" rIns="45975" bIns="45975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755"/>
              </a:spcBef>
              <a:spcAft>
                <a:spcPts val="755"/>
              </a:spcAft>
              <a:buClr>
                <a:srgbClr val="000000"/>
              </a:buClr>
              <a:buSzPts val="730"/>
              <a:buFont typeface="Arial"/>
              <a:buNone/>
            </a:pPr>
            <a:r>
              <a:rPr lang="en-US" sz="73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Sooryakumar Thoppan</a:t>
            </a:r>
            <a:endParaRPr sz="428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 txBox="1"/>
          <p:nvPr/>
        </p:nvSpPr>
        <p:spPr>
          <a:xfrm>
            <a:off x="4169113" y="2413195"/>
            <a:ext cx="1170619" cy="4553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975" tIns="45975" rIns="45975" bIns="45975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755"/>
              </a:spcBef>
              <a:spcAft>
                <a:spcPts val="755"/>
              </a:spcAft>
              <a:buClr>
                <a:srgbClr val="000000"/>
              </a:buClr>
              <a:buSzPts val="730"/>
              <a:buFont typeface="Arial"/>
              <a:buNone/>
            </a:pPr>
            <a:r>
              <a:rPr lang="en-US" sz="73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Krishen Kota</a:t>
            </a:r>
            <a:endParaRPr sz="428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0" name="Google Shape;80;p6" title="soorya_pic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657680" y="1421792"/>
            <a:ext cx="1040110" cy="1035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6" title="1772064787248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732294" y="1412506"/>
            <a:ext cx="1021501" cy="1021501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6"/>
          <p:cNvSpPr txBox="1"/>
          <p:nvPr/>
        </p:nvSpPr>
        <p:spPr>
          <a:xfrm>
            <a:off x="6921078" y="3905031"/>
            <a:ext cx="1144294" cy="423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4950" tIns="44950" rIns="44950" bIns="4495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737"/>
              </a:spcBef>
              <a:spcAft>
                <a:spcPts val="737"/>
              </a:spcAft>
              <a:buClr>
                <a:srgbClr val="000000"/>
              </a:buClr>
              <a:buSzPts val="713"/>
              <a:buFont typeface="Arial"/>
              <a:buNone/>
            </a:pPr>
            <a:r>
              <a:rPr lang="en-US" sz="713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Dr. Tope Mitchell</a:t>
            </a:r>
            <a:endParaRPr sz="418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 txBox="1"/>
          <p:nvPr/>
        </p:nvSpPr>
        <p:spPr>
          <a:xfrm>
            <a:off x="978675" y="3927115"/>
            <a:ext cx="1144294" cy="423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4950" tIns="44950" rIns="44950" bIns="4495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737"/>
              </a:spcBef>
              <a:spcAft>
                <a:spcPts val="737"/>
              </a:spcAft>
              <a:buClr>
                <a:srgbClr val="000000"/>
              </a:buClr>
              <a:buSzPts val="713"/>
              <a:buFont typeface="Arial"/>
              <a:buNone/>
            </a:pPr>
            <a:r>
              <a:rPr lang="en-US" sz="713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Anika Fisher</a:t>
            </a:r>
            <a:endParaRPr sz="713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 txBox="1"/>
          <p:nvPr/>
        </p:nvSpPr>
        <p:spPr>
          <a:xfrm>
            <a:off x="5713824" y="3927787"/>
            <a:ext cx="1144294" cy="423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4950" tIns="44950" rIns="44950" bIns="4495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737"/>
              </a:spcBef>
              <a:spcAft>
                <a:spcPts val="737"/>
              </a:spcAft>
              <a:buClr>
                <a:srgbClr val="000000"/>
              </a:buClr>
              <a:buSzPts val="713"/>
              <a:buFont typeface="Arial"/>
              <a:buNone/>
            </a:pPr>
            <a:r>
              <a:rPr lang="en-US" sz="713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Ruitao Chen</a:t>
            </a:r>
            <a:endParaRPr sz="418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 txBox="1"/>
          <p:nvPr/>
        </p:nvSpPr>
        <p:spPr>
          <a:xfrm>
            <a:off x="4506573" y="3909966"/>
            <a:ext cx="1144294" cy="423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4950" tIns="44950" rIns="44950" bIns="4495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737"/>
              </a:spcBef>
              <a:spcAft>
                <a:spcPts val="737"/>
              </a:spcAft>
              <a:buClr>
                <a:srgbClr val="000000"/>
              </a:buClr>
              <a:buSzPts val="713"/>
              <a:buFont typeface="Arial"/>
              <a:buNone/>
            </a:pPr>
            <a:r>
              <a:rPr lang="en-US" sz="713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Jordan Elizaga</a:t>
            </a:r>
            <a:endParaRPr sz="418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 txBox="1"/>
          <p:nvPr/>
        </p:nvSpPr>
        <p:spPr>
          <a:xfrm>
            <a:off x="3324250" y="3900700"/>
            <a:ext cx="1144294" cy="423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4950" tIns="44950" rIns="44950" bIns="4495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737"/>
              </a:spcBef>
              <a:spcAft>
                <a:spcPts val="737"/>
              </a:spcAft>
              <a:buClr>
                <a:srgbClr val="000000"/>
              </a:buClr>
              <a:buSzPts val="713"/>
              <a:buFont typeface="Arial"/>
              <a:buNone/>
            </a:pPr>
            <a:r>
              <a:rPr lang="en-US" sz="713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Drew Schillinger</a:t>
            </a:r>
            <a:endParaRPr sz="418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7" name="Google Shape;87;p6" title="1516811045962.jp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95422" y="2906408"/>
            <a:ext cx="1016698" cy="1016698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6" title="1771890089959.png"/>
          <p:cNvPicPr preferRelativeResize="0"/>
          <p:nvPr/>
        </p:nvPicPr>
        <p:blipFill rotWithShape="1">
          <a:blip r:embed="rId12">
            <a:alphaModFix/>
          </a:blip>
          <a:srcRect t="11473" r="4916"/>
          <a:stretch/>
        </p:blipFill>
        <p:spPr>
          <a:xfrm>
            <a:off x="7020315" y="2846079"/>
            <a:ext cx="1072482" cy="99854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6" title="1582389126335.jp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3396660" y="2884357"/>
            <a:ext cx="998515" cy="99851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6" title="1775247501287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4582817" y="2915455"/>
            <a:ext cx="1016699" cy="1016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6" title="1771520763614.jp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5797350" y="2915456"/>
            <a:ext cx="1016699" cy="1016699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6"/>
          <p:cNvSpPr txBox="1"/>
          <p:nvPr/>
        </p:nvSpPr>
        <p:spPr>
          <a:xfrm>
            <a:off x="2174588" y="3917585"/>
            <a:ext cx="1144294" cy="423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4950" tIns="44950" rIns="44950" bIns="4495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737"/>
              </a:spcBef>
              <a:spcAft>
                <a:spcPts val="737"/>
              </a:spcAft>
              <a:buClr>
                <a:srgbClr val="000000"/>
              </a:buClr>
              <a:buSzPts val="713"/>
              <a:buFont typeface="Arial"/>
              <a:buNone/>
            </a:pPr>
            <a:r>
              <a:rPr lang="en-US" sz="713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Anthony Webb</a:t>
            </a:r>
            <a:endParaRPr sz="418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6" title="1773441510449.jp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2261903" y="2919468"/>
            <a:ext cx="998528" cy="9985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8"/>
          <p:cNvSpPr/>
          <p:nvPr/>
        </p:nvSpPr>
        <p:spPr>
          <a:xfrm>
            <a:off x="0" y="0"/>
            <a:ext cx="914175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50" tIns="34250" rIns="68550" bIns="342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8"/>
          <p:cNvSpPr/>
          <p:nvPr/>
        </p:nvSpPr>
        <p:spPr>
          <a:xfrm>
            <a:off x="429370" y="1261158"/>
            <a:ext cx="8229600" cy="13716"/>
          </a:xfrm>
          <a:custGeom>
            <a:avLst/>
            <a:gdLst/>
            <a:ahLst/>
            <a:cxnLst/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4902"/>
            </a:schemeClr>
          </a:solidFill>
          <a:ln w="44450" cap="rnd" cmpd="sng">
            <a:solidFill>
              <a:schemeClr val="accent2">
                <a:alpha val="74902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34250" rIns="68550" bIns="342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8" name="Google Shape;108;p8" descr="A logo with orange letters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93670" y="4322703"/>
            <a:ext cx="1074731" cy="620039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8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50" rIns="68550" bIns="3425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Calibri"/>
              <a:buNone/>
            </a:pPr>
            <a:r>
              <a:rPr lang="en-US" b="1"/>
              <a:t>Types of Events</a:t>
            </a:r>
            <a:endParaRPr/>
          </a:p>
        </p:txBody>
      </p:sp>
      <p:sp>
        <p:nvSpPr>
          <p:cNvPr id="110" name="Google Shape;110;p8"/>
          <p:cNvSpPr txBox="1"/>
          <p:nvPr/>
        </p:nvSpPr>
        <p:spPr>
          <a:xfrm>
            <a:off x="4726050" y="1730832"/>
            <a:ext cx="2714700" cy="25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68550" rIns="68550" bIns="685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19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Education</a:t>
            </a:r>
            <a:endParaRPr sz="19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892" marR="0" lvl="0" indent="-27304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●"/>
            </a:pPr>
            <a:r>
              <a:rPr lang="en-US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 Nights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892" marR="0" lvl="0" indent="-27304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●"/>
            </a:pPr>
            <a:r>
              <a:rPr lang="en-US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Roundtables 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892" marR="0" lvl="0" indent="-27304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●"/>
            </a:pPr>
            <a:r>
              <a:rPr lang="en-US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Panel Discussions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892" marR="0" lvl="0" indent="-27304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●"/>
            </a:pPr>
            <a:r>
              <a:rPr lang="en-US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Workshops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892" marR="0" lvl="0" indent="-27304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●"/>
            </a:pPr>
            <a:r>
              <a:rPr lang="en-US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Hackathons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892" marR="0" lvl="0" indent="-27304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●"/>
            </a:pPr>
            <a:r>
              <a:rPr lang="en-US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Pitch Nights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8"/>
          <p:cNvSpPr txBox="1"/>
          <p:nvPr/>
        </p:nvSpPr>
        <p:spPr>
          <a:xfrm>
            <a:off x="708131" y="1730831"/>
            <a:ext cx="3589200" cy="326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68550" rIns="68550" bIns="685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19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Socials</a:t>
            </a:r>
            <a:endParaRPr sz="19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892" marR="0" lvl="0" indent="-27304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●"/>
            </a:pPr>
            <a:r>
              <a:rPr lang="en-US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Walk &amp; Talk AI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892" marR="0" lvl="0" indent="-27304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●"/>
            </a:pPr>
            <a:r>
              <a:rPr lang="en-US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Vibe Nights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892" marR="0" lvl="0" indent="-27304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●"/>
            </a:pPr>
            <a:r>
              <a:rPr lang="en-US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Coffee/Breakfasts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892" marR="0" lvl="0" indent="-27304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●"/>
            </a:pPr>
            <a:r>
              <a:rPr lang="en-US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‘Appy Hour Meetups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892" marR="0" lvl="0" indent="-27304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●"/>
            </a:pPr>
            <a:r>
              <a:rPr lang="en-US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Lunch &amp; Learn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892" marR="0" lvl="0" indent="-27304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●"/>
            </a:pPr>
            <a:r>
              <a:rPr lang="en-US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Ice Cream Socials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892" marR="0" lvl="0" indent="-27304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●"/>
            </a:pPr>
            <a:r>
              <a:rPr lang="en-US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Taco’bout AI Tuesdays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892" marR="0" lvl="0" indent="-27304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●"/>
            </a:pPr>
            <a:r>
              <a:rPr lang="en-US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Meditation, Tai Chi, Yoga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7"/>
          <p:cNvSpPr/>
          <p:nvPr/>
        </p:nvSpPr>
        <p:spPr>
          <a:xfrm>
            <a:off x="429370" y="1261158"/>
            <a:ext cx="8229600" cy="13716"/>
          </a:xfrm>
          <a:custGeom>
            <a:avLst/>
            <a:gdLst/>
            <a:ahLst/>
            <a:cxnLst/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4902"/>
            </a:schemeClr>
          </a:solidFill>
          <a:ln w="44450" cap="rnd" cmpd="sng">
            <a:solidFill>
              <a:schemeClr val="accent2">
                <a:alpha val="74902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50" tIns="34250" rIns="68550" bIns="342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9" name="Google Shape;99;p7" descr="A logo with orange letters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93669" y="4322703"/>
            <a:ext cx="1074732" cy="620038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7"/>
          <p:cNvSpPr txBox="1"/>
          <p:nvPr/>
        </p:nvSpPr>
        <p:spPr>
          <a:xfrm>
            <a:off x="457200" y="200759"/>
            <a:ext cx="8229600" cy="805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75"/>
              <a:buFont typeface="Arial"/>
              <a:buNone/>
            </a:pPr>
            <a:r>
              <a:rPr lang="en-US" sz="3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Subscribe to: </a:t>
            </a:r>
            <a:r>
              <a:rPr lang="en-US" sz="4200" b="1" i="0" u="none" strike="noStrike" cap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Luma.com/AICATL</a:t>
            </a:r>
            <a:endParaRPr sz="4163" b="1" i="0" u="none" strike="noStrike" cap="non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1" name="Google Shape;101;p7" descr="A group of people posing for a photo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 l="8724" r="9231"/>
          <a:stretch/>
        </p:blipFill>
        <p:spPr>
          <a:xfrm>
            <a:off x="429370" y="1530197"/>
            <a:ext cx="5891753" cy="3221128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5E632B7F-ABEC-715D-45DD-46903F35CC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6553" y="1530197"/>
            <a:ext cx="1942417" cy="194784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626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35240" y="4130287"/>
            <a:ext cx="1371600" cy="793757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9"/>
          <p:cNvSpPr/>
          <p:nvPr/>
        </p:nvSpPr>
        <p:spPr>
          <a:xfrm>
            <a:off x="457200" y="219456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BEFORE WE BEGIN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9"/>
          <p:cNvSpPr/>
          <p:nvPr/>
        </p:nvSpPr>
        <p:spPr>
          <a:xfrm>
            <a:off x="457200" y="420624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libri"/>
              <a:buNone/>
            </a:pPr>
            <a:r>
              <a:rPr lang="en-US" sz="4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Tonight's Rules</a:t>
            </a:r>
            <a:endParaRPr sz="4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9"/>
          <p:cNvSpPr/>
          <p:nvPr/>
        </p:nvSpPr>
        <p:spPr>
          <a:xfrm>
            <a:off x="457200" y="1325880"/>
            <a:ext cx="411480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700"/>
              <a:buFont typeface="Calibri"/>
              <a:buNone/>
            </a:pPr>
            <a:r>
              <a:rPr lang="en-US" sz="1700" b="1" i="0" u="none" strike="noStrike" cap="non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🍔  Order Something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9"/>
          <p:cNvSpPr/>
          <p:nvPr/>
        </p:nvSpPr>
        <p:spPr>
          <a:xfrm>
            <a:off x="457200" y="1783080"/>
            <a:ext cx="4114800" cy="804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2-item minimum per person. Eat, drink, and code.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9"/>
          <p:cNvSpPr/>
          <p:nvPr/>
        </p:nvSpPr>
        <p:spPr>
          <a:xfrm>
            <a:off x="4892040" y="1325880"/>
            <a:ext cx="411480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700"/>
              <a:buFont typeface="Calibri"/>
              <a:buNone/>
            </a:pPr>
            <a:r>
              <a:rPr lang="en-US" sz="1700" b="1" i="0" u="none" strike="noStrike" cap="non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💻  Laptop Open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9"/>
          <p:cNvSpPr/>
          <p:nvPr/>
        </p:nvSpPr>
        <p:spPr>
          <a:xfrm>
            <a:off x="4892040" y="1783080"/>
            <a:ext cx="4114800" cy="804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Everything runs in your browser. Free accounts are fine.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9"/>
          <p:cNvSpPr/>
          <p:nvPr/>
        </p:nvSpPr>
        <p:spPr>
          <a:xfrm>
            <a:off x="457200" y="3017520"/>
            <a:ext cx="411480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700"/>
              <a:buFont typeface="Calibri"/>
              <a:buNone/>
            </a:pPr>
            <a:r>
              <a:rPr lang="en-US" sz="1700" b="1" i="0" u="none" strike="noStrike" cap="non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🚫  No Judgment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9"/>
          <p:cNvSpPr/>
          <p:nvPr/>
        </p:nvSpPr>
        <p:spPr>
          <a:xfrm>
            <a:off x="457200" y="3474720"/>
            <a:ext cx="4114800" cy="804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Beginners welcome. Experts welcome. The only rule is you try.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9"/>
          <p:cNvSpPr/>
          <p:nvPr/>
        </p:nvSpPr>
        <p:spPr>
          <a:xfrm>
            <a:off x="4892040" y="3017520"/>
            <a:ext cx="411480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700"/>
              <a:buFont typeface="Calibri"/>
              <a:buNone/>
            </a:pPr>
            <a:r>
              <a:rPr lang="en-US" sz="1700" b="1" i="0" u="none" strike="noStrike" cap="non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⚡  Context Is Everything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9"/>
          <p:cNvSpPr/>
          <p:nvPr/>
        </p:nvSpPr>
        <p:spPr>
          <a:xfrm>
            <a:off x="4892040" y="3474720"/>
            <a:ext cx="4114800" cy="804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Tell the AI what you want, why you want it, and what good looks like.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626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0"/>
          <p:cNvSpPr/>
          <p:nvPr/>
        </p:nvSpPr>
        <p:spPr>
          <a:xfrm>
            <a:off x="457200" y="219456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QUICK POLL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0"/>
          <p:cNvSpPr/>
          <p:nvPr/>
        </p:nvSpPr>
        <p:spPr>
          <a:xfrm>
            <a:off x="457200" y="420624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libri"/>
              <a:buNone/>
            </a:pPr>
            <a:r>
              <a:rPr lang="en-US" sz="4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Who's in the Room?</a:t>
            </a:r>
            <a:endParaRPr sz="4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0"/>
          <p:cNvSpPr/>
          <p:nvPr/>
        </p:nvSpPr>
        <p:spPr>
          <a:xfrm>
            <a:off x="457200" y="1234440"/>
            <a:ext cx="82296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B8F8"/>
              </a:buClr>
              <a:buSzPts val="1700"/>
              <a:buFont typeface="Calibri"/>
              <a:buNone/>
            </a:pPr>
            <a:r>
              <a:rPr lang="en-US" sz="1700" b="0" i="0" u="none" strike="noStrike" cap="none">
                <a:solidFill>
                  <a:srgbClr val="C8B8F8"/>
                </a:solidFill>
                <a:latin typeface="Calibri"/>
                <a:ea typeface="Calibri"/>
                <a:cs typeface="Calibri"/>
                <a:sym typeface="Calibri"/>
              </a:rPr>
              <a:t>Show of hands — which one are you tonight?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0"/>
          <p:cNvSpPr/>
          <p:nvPr/>
        </p:nvSpPr>
        <p:spPr>
          <a:xfrm>
            <a:off x="457200" y="1828800"/>
            <a:ext cx="192024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5200"/>
              <a:buFont typeface="Calibri"/>
              <a:buNone/>
            </a:pPr>
            <a:r>
              <a:rPr lang="en-US" sz="5200" b="1" i="0" u="none" strike="noStrike" cap="non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5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0"/>
          <p:cNvSpPr/>
          <p:nvPr/>
        </p:nvSpPr>
        <p:spPr>
          <a:xfrm>
            <a:off x="457200" y="2761488"/>
            <a:ext cx="192024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Never heard of it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0"/>
          <p:cNvSpPr/>
          <p:nvPr/>
        </p:nvSpPr>
        <p:spPr>
          <a:xfrm>
            <a:off x="457200" y="3438144"/>
            <a:ext cx="192024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78A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878A8"/>
                </a:solidFill>
                <a:latin typeface="Calibri"/>
                <a:ea typeface="Calibri"/>
                <a:cs typeface="Calibri"/>
                <a:sym typeface="Calibri"/>
              </a:rPr>
              <a:t>Vibe coding? What's that?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0"/>
          <p:cNvSpPr/>
          <p:nvPr/>
        </p:nvSpPr>
        <p:spPr>
          <a:xfrm>
            <a:off x="2606040" y="1828800"/>
            <a:ext cx="192024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5200"/>
              <a:buFont typeface="Calibri"/>
              <a:buNone/>
            </a:pPr>
            <a:r>
              <a:rPr lang="en-US" sz="5200" b="1" i="0" u="none" strike="noStrike" cap="non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5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0"/>
          <p:cNvSpPr/>
          <p:nvPr/>
        </p:nvSpPr>
        <p:spPr>
          <a:xfrm>
            <a:off x="2606040" y="2761488"/>
            <a:ext cx="192024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Heard of it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0"/>
          <p:cNvSpPr/>
          <p:nvPr/>
        </p:nvSpPr>
        <p:spPr>
          <a:xfrm>
            <a:off x="2606040" y="3438144"/>
            <a:ext cx="192024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78A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878A8"/>
                </a:solidFill>
                <a:latin typeface="Calibri"/>
                <a:ea typeface="Calibri"/>
                <a:cs typeface="Calibri"/>
                <a:sym typeface="Calibri"/>
              </a:rPr>
              <a:t>Haven't tried it yet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0"/>
          <p:cNvSpPr/>
          <p:nvPr/>
        </p:nvSpPr>
        <p:spPr>
          <a:xfrm>
            <a:off x="4754880" y="1828800"/>
            <a:ext cx="192024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5200"/>
              <a:buFont typeface="Calibri"/>
              <a:buNone/>
            </a:pPr>
            <a:r>
              <a:rPr lang="en-US" sz="5200" b="1" i="0" u="none" strike="noStrike" cap="non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5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0"/>
          <p:cNvSpPr/>
          <p:nvPr/>
        </p:nvSpPr>
        <p:spPr>
          <a:xfrm>
            <a:off x="4754880" y="2761488"/>
            <a:ext cx="192024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Tried it once or twice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0"/>
          <p:cNvSpPr/>
          <p:nvPr/>
        </p:nvSpPr>
        <p:spPr>
          <a:xfrm>
            <a:off x="4754880" y="3438144"/>
            <a:ext cx="192024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78A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878A8"/>
                </a:solidFill>
                <a:latin typeface="Calibri"/>
                <a:ea typeface="Calibri"/>
                <a:cs typeface="Calibri"/>
                <a:sym typeface="Calibri"/>
              </a:rPr>
              <a:t>Dipped a toe in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0"/>
          <p:cNvSpPr/>
          <p:nvPr/>
        </p:nvSpPr>
        <p:spPr>
          <a:xfrm>
            <a:off x="6903720" y="1828800"/>
            <a:ext cx="192024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5200"/>
              <a:buFont typeface="Calibri"/>
              <a:buNone/>
            </a:pPr>
            <a:r>
              <a:rPr lang="en-US" sz="5200" b="1" i="0" u="none" strike="noStrike" cap="non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5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0"/>
          <p:cNvSpPr/>
          <p:nvPr/>
        </p:nvSpPr>
        <p:spPr>
          <a:xfrm>
            <a:off x="6903720" y="2761488"/>
            <a:ext cx="192024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 vibe code regularly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0"/>
          <p:cNvSpPr/>
          <p:nvPr/>
        </p:nvSpPr>
        <p:spPr>
          <a:xfrm>
            <a:off x="6903720" y="3438144"/>
            <a:ext cx="192024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78A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878A8"/>
                </a:solidFill>
                <a:latin typeface="Calibri"/>
                <a:ea typeface="Calibri"/>
                <a:cs typeface="Calibri"/>
                <a:sym typeface="Calibri"/>
              </a:rPr>
              <a:t>Already building stuff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8" name="Google Shape;148;p1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35240" y="4130287"/>
            <a:ext cx="1371600" cy="7937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626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1"/>
          <p:cNvSpPr/>
          <p:nvPr/>
        </p:nvSpPr>
        <p:spPr>
          <a:xfrm>
            <a:off x="457200" y="219456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THE CORE IDEA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1"/>
          <p:cNvSpPr/>
          <p:nvPr/>
        </p:nvSpPr>
        <p:spPr>
          <a:xfrm>
            <a:off x="457200" y="420624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libri"/>
              <a:buNone/>
            </a:pPr>
            <a:r>
              <a:rPr lang="en-US" sz="4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Is Vibe Coding?</a:t>
            </a:r>
            <a:endParaRPr sz="4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1"/>
          <p:cNvSpPr/>
          <p:nvPr/>
        </p:nvSpPr>
        <p:spPr>
          <a:xfrm>
            <a:off x="457200" y="1234440"/>
            <a:ext cx="822960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900"/>
              <a:buFont typeface="Calibri"/>
              <a:buNone/>
            </a:pPr>
            <a:r>
              <a:rPr lang="en-US" sz="1900" b="0" i="1" u="none" strike="noStrike" cap="non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"You're the architect. The AI is the builder. You never write a line of code."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1"/>
          <p:cNvSpPr/>
          <p:nvPr/>
        </p:nvSpPr>
        <p:spPr>
          <a:xfrm>
            <a:off x="457200" y="2148840"/>
            <a:ext cx="26060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3200"/>
              <a:buFont typeface="Calibri"/>
              <a:buNone/>
            </a:pPr>
            <a:r>
              <a:rPr lang="en-US" sz="3200" b="1" i="0" u="none" strike="noStrike" cap="non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1"/>
          <p:cNvSpPr/>
          <p:nvPr/>
        </p:nvSpPr>
        <p:spPr>
          <a:xfrm>
            <a:off x="457200" y="2761488"/>
            <a:ext cx="260604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Describe it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1"/>
          <p:cNvSpPr/>
          <p:nvPr/>
        </p:nvSpPr>
        <p:spPr>
          <a:xfrm>
            <a:off x="457200" y="3200400"/>
            <a:ext cx="260604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B8F8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C8B8F8"/>
                </a:solidFill>
                <a:latin typeface="Calibri"/>
                <a:ea typeface="Calibri"/>
                <a:cs typeface="Calibri"/>
                <a:sym typeface="Calibri"/>
              </a:rPr>
              <a:t>Say what you want in plain language. Be specific about what it should do and look like.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1"/>
          <p:cNvSpPr/>
          <p:nvPr/>
        </p:nvSpPr>
        <p:spPr>
          <a:xfrm>
            <a:off x="3337560" y="2148840"/>
            <a:ext cx="26060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3200"/>
              <a:buFont typeface="Calibri"/>
              <a:buNone/>
            </a:pPr>
            <a:r>
              <a:rPr lang="en-US" sz="3200" b="1" i="0" u="none" strike="noStrike" cap="non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1"/>
          <p:cNvSpPr/>
          <p:nvPr/>
        </p:nvSpPr>
        <p:spPr>
          <a:xfrm>
            <a:off x="3337560" y="2761488"/>
            <a:ext cx="260604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Review the output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1"/>
          <p:cNvSpPr/>
          <p:nvPr/>
        </p:nvSpPr>
        <p:spPr>
          <a:xfrm>
            <a:off x="3337560" y="3200400"/>
            <a:ext cx="260604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B8F8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C8B8F8"/>
                </a:solidFill>
                <a:latin typeface="Calibri"/>
                <a:ea typeface="Calibri"/>
                <a:cs typeface="Calibri"/>
                <a:sym typeface="Calibri"/>
              </a:rPr>
              <a:t>The AI does the hard part and shows you the result. You look at what it made, not the code.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1"/>
          <p:cNvSpPr/>
          <p:nvPr/>
        </p:nvSpPr>
        <p:spPr>
          <a:xfrm>
            <a:off x="6217920" y="2148840"/>
            <a:ext cx="26060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3200"/>
              <a:buFont typeface="Calibri"/>
              <a:buNone/>
            </a:pPr>
            <a:r>
              <a:rPr lang="en-US" sz="3200" b="1" i="0" u="none" strike="noStrike" cap="non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1"/>
          <p:cNvSpPr/>
          <p:nvPr/>
        </p:nvSpPr>
        <p:spPr>
          <a:xfrm>
            <a:off x="6217920" y="2761488"/>
            <a:ext cx="260604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Direct corrections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1"/>
          <p:cNvSpPr/>
          <p:nvPr/>
        </p:nvSpPr>
        <p:spPr>
          <a:xfrm>
            <a:off x="6217920" y="3200400"/>
            <a:ext cx="260604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B8F8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C8B8F8"/>
                </a:solidFill>
                <a:latin typeface="Calibri"/>
                <a:ea typeface="Calibri"/>
                <a:cs typeface="Calibri"/>
                <a:sym typeface="Calibri"/>
              </a:rPr>
              <a:t>“Make it darker.” “Add a date.” “That button doesn’t work. Fix it.”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6" name="Google Shape;166;p1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35240" y="4130287"/>
            <a:ext cx="1371600" cy="7937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152400"/>
            <a:ext cx="8415129" cy="4838699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TextBox 171"/>
          <p:cNvSpPr txBox="1"/>
          <p:nvPr/>
        </p:nvSpPr>
        <p:spPr>
          <a:xfrm>
            <a:off x="1901952" y="2331720"/>
            <a:ext cx="1325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67317"/>
                </a:solidFill>
                <a:latin typeface="Calibri"/>
              </a:rPr>
              <a:t>← You are here tonight!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626"/>
        </a:solidFill>
        <a:effectLst/>
      </p:bgPr>
    </p:bg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4"/>
          <p:cNvSpPr/>
          <p:nvPr/>
        </p:nvSpPr>
        <p:spPr>
          <a:xfrm>
            <a:off x="457200" y="219456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AN AGENT IS REALLY AN ASSISTANT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4"/>
          <p:cNvSpPr/>
          <p:nvPr/>
        </p:nvSpPr>
        <p:spPr>
          <a:xfrm>
            <a:off x="457200" y="420624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libri"/>
              <a:buNone/>
            </a:pPr>
            <a:r>
              <a:rPr lang="en-US" sz="4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Assistant  vs.  App</a:t>
            </a:r>
            <a:endParaRPr sz="4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4"/>
          <p:cNvSpPr/>
          <p:nvPr/>
        </p:nvSpPr>
        <p:spPr>
          <a:xfrm flipH="1">
            <a:off x="4434841" y="1261872"/>
            <a:ext cx="64007" cy="2670048"/>
          </a:xfrm>
          <a:prstGeom prst="rect">
            <a:avLst/>
          </a:prstGeom>
          <a:solidFill>
            <a:srgbClr val="8878A8">
              <a:alpha val="40000"/>
            </a:srgbClr>
          </a:solidFill>
          <a:ln w="12700" cap="flat" cmpd="sng">
            <a:solidFill>
              <a:srgbClr val="8878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4"/>
          <p:cNvSpPr/>
          <p:nvPr/>
        </p:nvSpPr>
        <p:spPr>
          <a:xfrm>
            <a:off x="457200" y="1298448"/>
            <a:ext cx="384048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DD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33DDFF"/>
                </a:solidFill>
                <a:latin typeface="Calibri"/>
                <a:ea typeface="Calibri"/>
                <a:cs typeface="Calibri"/>
                <a:sym typeface="Calibri"/>
              </a:rPr>
              <a:t>🤖  Assistant (agent)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4"/>
          <p:cNvSpPr/>
          <p:nvPr/>
        </p:nvSpPr>
        <p:spPr>
          <a:xfrm>
            <a:off x="457200" y="1828800"/>
            <a:ext cx="384048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 Does stuff for you, on your behalf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4"/>
          <p:cNvSpPr/>
          <p:nvPr/>
        </p:nvSpPr>
        <p:spPr>
          <a:xfrm>
            <a:off x="457200" y="2267712"/>
            <a:ext cx="384048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 Searches, compares, and fills things in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4"/>
          <p:cNvSpPr/>
          <p:nvPr/>
        </p:nvSpPr>
        <p:spPr>
          <a:xfrm>
            <a:off x="457200" y="2706624"/>
            <a:ext cx="384048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 Figures out HOW to get it done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4"/>
          <p:cNvSpPr/>
          <p:nvPr/>
        </p:nvSpPr>
        <p:spPr>
          <a:xfrm>
            <a:off x="457200" y="3218688"/>
            <a:ext cx="384048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DDFF"/>
              </a:buClr>
              <a:buSzPts val="1300"/>
              <a:buFont typeface="Calibri"/>
              <a:buNone/>
            </a:pPr>
            <a:r>
              <a:rPr lang="en-US" sz="1300" b="0" i="1" u="none" strike="noStrike" cap="none">
                <a:solidFill>
                  <a:srgbClr val="33DDFF"/>
                </a:solidFill>
                <a:latin typeface="Calibri"/>
                <a:ea typeface="Calibri"/>
                <a:cs typeface="Calibri"/>
                <a:sym typeface="Calibri"/>
              </a:rPr>
              <a:t>Example: Plan my trip to Chicago. Flights, hotel, food, and fun.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4"/>
          <p:cNvSpPr/>
          <p:nvPr/>
        </p:nvSpPr>
        <p:spPr>
          <a:xfrm>
            <a:off x="4709160" y="1298448"/>
            <a:ext cx="39776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🛠️  App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4"/>
          <p:cNvSpPr/>
          <p:nvPr/>
        </p:nvSpPr>
        <p:spPr>
          <a:xfrm>
            <a:off x="4709160" y="1828800"/>
            <a:ext cx="39776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 A tool that does one thing well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4"/>
          <p:cNvSpPr/>
          <p:nvPr/>
        </p:nvSpPr>
        <p:spPr>
          <a:xfrm>
            <a:off x="4709160" y="2267712"/>
            <a:ext cx="39776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 Works the same way every time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4"/>
          <p:cNvSpPr/>
          <p:nvPr/>
        </p:nvSpPr>
        <p:spPr>
          <a:xfrm>
            <a:off x="4709160" y="2706624"/>
            <a:ext cx="39776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 Has buttons, forms, and screens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4"/>
          <p:cNvSpPr/>
          <p:nvPr/>
        </p:nvSpPr>
        <p:spPr>
          <a:xfrm>
            <a:off x="4709160" y="3218688"/>
            <a:ext cx="397764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300"/>
              <a:buFont typeface="Calibri"/>
              <a:buNone/>
            </a:pPr>
            <a:r>
              <a:rPr lang="en-US" sz="1300" b="0" i="1" u="none" strike="noStrike" cap="non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Example: A tracker that shows my week at a glance.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4"/>
          <p:cNvSpPr/>
          <p:nvPr/>
        </p:nvSpPr>
        <p:spPr>
          <a:xfrm>
            <a:off x="457200" y="4023360"/>
            <a:ext cx="8229600" cy="27432"/>
          </a:xfrm>
          <a:prstGeom prst="rect">
            <a:avLst/>
          </a:prstGeom>
          <a:solidFill>
            <a:srgbClr val="8878A8">
              <a:alpha val="40000"/>
            </a:srgbClr>
          </a:solidFill>
          <a:ln w="12700" cap="flat" cmpd="sng">
            <a:solidFill>
              <a:srgbClr val="8878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4"/>
          <p:cNvSpPr/>
          <p:nvPr/>
        </p:nvSpPr>
        <p:spPr>
          <a:xfrm>
            <a:off x="384048" y="4114800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Tonight you build both. First an assistant, then an app.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0" name="Google Shape;220;p1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35240" y="4130287"/>
            <a:ext cx="1371600" cy="7937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77" name="Google Shape;177;p13"/>
          <p:cNvSpPr/>
          <p:nvPr/>
        </p:nvSpPr>
        <p:spPr>
          <a:xfrm>
            <a:off x="457200" y="219456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WHAT'S POSSIBLE TODAY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3"/>
          <p:cNvSpPr/>
          <p:nvPr/>
        </p:nvSpPr>
        <p:spPr>
          <a:xfrm>
            <a:off x="457200" y="420624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libri"/>
              <a:buNone/>
            </a:pPr>
            <a:r>
              <a:rPr lang="en-US" sz="4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Free Assistants to Try Tonight</a:t>
            </a:r>
            <a:endParaRPr sz="4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3"/>
          <p:cNvSpPr/>
          <p:nvPr/>
        </p:nvSpPr>
        <p:spPr>
          <a:xfrm>
            <a:off x="436098" y="4322311"/>
            <a:ext cx="82296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B8F8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C8B8F8"/>
                </a:solidFill>
                <a:latin typeface="Calibri"/>
                <a:ea typeface="Calibri"/>
                <a:cs typeface="Calibri"/>
                <a:sym typeface="Calibri"/>
              </a:rPr>
              <a:t>No subscription needed. Free plans limit how much they do, so start small.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3"/>
          <p:cNvSpPr/>
          <p:nvPr/>
        </p:nvSpPr>
        <p:spPr>
          <a:xfrm>
            <a:off x="527538" y="1261150"/>
            <a:ext cx="14630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78A8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8878A8"/>
                </a:solidFill>
                <a:latin typeface="Calibri"/>
                <a:ea typeface="Calibri"/>
                <a:cs typeface="Calibri"/>
                <a:sym typeface="Calibri"/>
              </a:rPr>
              <a:t>Assistant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3"/>
          <p:cNvSpPr/>
          <p:nvPr/>
        </p:nvSpPr>
        <p:spPr>
          <a:xfrm>
            <a:off x="2173458" y="1261150"/>
            <a:ext cx="21945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78A8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8878A8"/>
                </a:solidFill>
                <a:latin typeface="Calibri"/>
                <a:ea typeface="Calibri"/>
                <a:cs typeface="Calibri"/>
                <a:sym typeface="Calibri"/>
              </a:rPr>
              <a:t>Where to find it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3"/>
          <p:cNvSpPr/>
          <p:nvPr/>
        </p:nvSpPr>
        <p:spPr>
          <a:xfrm>
            <a:off x="4550898" y="1261150"/>
            <a:ext cx="42062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78A8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8878A8"/>
                </a:solidFill>
                <a:latin typeface="Calibri"/>
                <a:ea typeface="Calibri"/>
                <a:cs typeface="Calibri"/>
                <a:sym typeface="Calibri"/>
              </a:rPr>
              <a:t>What it does for you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3"/>
          <p:cNvSpPr/>
          <p:nvPr/>
        </p:nvSpPr>
        <p:spPr>
          <a:xfrm>
            <a:off x="527538" y="1608622"/>
            <a:ext cx="8229600" cy="27432"/>
          </a:xfrm>
          <a:prstGeom prst="rect">
            <a:avLst/>
          </a:prstGeom>
          <a:solidFill>
            <a:srgbClr val="8878A8">
              <a:alpha val="40000"/>
            </a:srgbClr>
          </a:solidFill>
          <a:ln w="12700" cap="flat" cmpd="sng">
            <a:solidFill>
              <a:srgbClr val="8878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3"/>
          <p:cNvSpPr/>
          <p:nvPr/>
        </p:nvSpPr>
        <p:spPr>
          <a:xfrm>
            <a:off x="527538" y="1718350"/>
            <a:ext cx="146304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Muse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3"/>
          <p:cNvSpPr/>
          <p:nvPr/>
        </p:nvSpPr>
        <p:spPr>
          <a:xfrm>
            <a:off x="2173458" y="1718350"/>
            <a:ext cx="219456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DDFF"/>
              </a:buClr>
              <a:buSzPts val="1300"/>
              <a:buFont typeface="Consolas"/>
              <a:buNone/>
            </a:pPr>
            <a:r>
              <a:rPr sz="1300" b="0" i="0">
                <a:solidFill>
                  <a:srgbClr val="33DDFF"/>
                </a:solidFill>
                <a:latin typeface="Calibri"/>
              </a:rPr>
              <a:t>muse.ai or the Muse app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3"/>
          <p:cNvSpPr/>
          <p:nvPr/>
        </p:nvSpPr>
        <p:spPr>
          <a:xfrm>
            <a:off x="4550898" y="1718350"/>
            <a:ext cx="420624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Meta's new assistant. Plans, fills in forms, and books.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3"/>
          <p:cNvSpPr/>
          <p:nvPr/>
        </p:nvSpPr>
        <p:spPr>
          <a:xfrm>
            <a:off x="527538" y="2303566"/>
            <a:ext cx="8229600" cy="27432"/>
          </a:xfrm>
          <a:prstGeom prst="rect">
            <a:avLst/>
          </a:prstGeom>
          <a:solidFill>
            <a:srgbClr val="8878A8">
              <a:alpha val="40000"/>
            </a:srgbClr>
          </a:solidFill>
          <a:ln w="12700" cap="flat" cmpd="sng">
            <a:solidFill>
              <a:srgbClr val="8878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3"/>
          <p:cNvSpPr/>
          <p:nvPr/>
        </p:nvSpPr>
        <p:spPr>
          <a:xfrm>
            <a:off x="527538" y="2376718"/>
            <a:ext cx="146304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Comet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3"/>
          <p:cNvSpPr/>
          <p:nvPr/>
        </p:nvSpPr>
        <p:spPr>
          <a:xfrm>
            <a:off x="2173458" y="2376718"/>
            <a:ext cx="219456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DDFF"/>
              </a:buClr>
              <a:buSzPts val="1300"/>
              <a:buFont typeface="Consolas"/>
              <a:buNone/>
            </a:pPr>
            <a:r>
              <a:rPr sz="1300" b="0" i="0">
                <a:solidFill>
                  <a:srgbClr val="33DDFF"/>
                </a:solidFill>
                <a:latin typeface="Calibri"/>
              </a:rPr>
              <a:t>Free browser from Perplexity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3"/>
          <p:cNvSpPr/>
          <p:nvPr/>
        </p:nvSpPr>
        <p:spPr>
          <a:xfrm>
            <a:off x="4550898" y="2376718"/>
            <a:ext cx="420624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Reads the page you're on and clicks through tasks.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3"/>
          <p:cNvSpPr/>
          <p:nvPr/>
        </p:nvSpPr>
        <p:spPr>
          <a:xfrm>
            <a:off x="527538" y="2961934"/>
            <a:ext cx="8229600" cy="27432"/>
          </a:xfrm>
          <a:prstGeom prst="rect">
            <a:avLst/>
          </a:prstGeom>
          <a:solidFill>
            <a:srgbClr val="8878A8">
              <a:alpha val="40000"/>
            </a:srgbClr>
          </a:solidFill>
          <a:ln w="12700" cap="flat" cmpd="sng">
            <a:solidFill>
              <a:srgbClr val="8878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3"/>
          <p:cNvSpPr/>
          <p:nvPr/>
        </p:nvSpPr>
        <p:spPr>
          <a:xfrm>
            <a:off x="527538" y="3035086"/>
            <a:ext cx="146304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Gemini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3"/>
          <p:cNvSpPr/>
          <p:nvPr/>
        </p:nvSpPr>
        <p:spPr>
          <a:xfrm>
            <a:off x="2173458" y="3035086"/>
            <a:ext cx="219456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DDFF"/>
              </a:buClr>
              <a:buSzPts val="1300"/>
              <a:buFont typeface="Consolas"/>
              <a:buNone/>
            </a:pPr>
            <a:r>
              <a:rPr sz="1300" b="0" i="0">
                <a:solidFill>
                  <a:srgbClr val="33DDFF"/>
                </a:solidFill>
                <a:latin typeface="Calibri"/>
              </a:rPr>
              <a:t>gemini.google.com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3"/>
          <p:cNvSpPr/>
          <p:nvPr/>
        </p:nvSpPr>
        <p:spPr>
          <a:xfrm>
            <a:off x="4550898" y="3035086"/>
            <a:ext cx="420624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Researches and builds your plan. Deep Research is free.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3"/>
          <p:cNvSpPr/>
          <p:nvPr/>
        </p:nvSpPr>
        <p:spPr>
          <a:xfrm>
            <a:off x="527538" y="3620302"/>
            <a:ext cx="8229600" cy="27432"/>
          </a:xfrm>
          <a:prstGeom prst="rect">
            <a:avLst/>
          </a:prstGeom>
          <a:solidFill>
            <a:srgbClr val="8878A8">
              <a:alpha val="40000"/>
            </a:srgbClr>
          </a:solidFill>
          <a:ln w="12700" cap="flat" cmpd="sng">
            <a:solidFill>
              <a:srgbClr val="8878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3"/>
          <p:cNvSpPr/>
          <p:nvPr/>
        </p:nvSpPr>
        <p:spPr>
          <a:xfrm>
            <a:off x="527538" y="3693454"/>
            <a:ext cx="146304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Manus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3"/>
          <p:cNvSpPr/>
          <p:nvPr/>
        </p:nvSpPr>
        <p:spPr>
          <a:xfrm>
            <a:off x="2173458" y="3693454"/>
            <a:ext cx="219456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DDFF"/>
              </a:buClr>
              <a:buSzPts val="1300"/>
              <a:buFont typeface="Consolas"/>
              <a:buNone/>
            </a:pPr>
            <a:r>
              <a:rPr sz="1300" b="0" i="0">
                <a:solidFill>
                  <a:srgbClr val="33DDFF"/>
                </a:solidFill>
                <a:latin typeface="Calibri"/>
              </a:rPr>
              <a:t>manus.im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3"/>
          <p:cNvSpPr/>
          <p:nvPr/>
        </p:nvSpPr>
        <p:spPr>
          <a:xfrm>
            <a:off x="4550898" y="3693454"/>
            <a:ext cx="436450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Works through a bigger job, step by step.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9" name="Google Shape;199;p13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635240" y="4130287"/>
            <a:ext cx="1371600" cy="7937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626"/>
        </a:solidFill>
        <a:effectLst/>
      </p:bgPr>
    </p:bg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5"/>
          <p:cNvSpPr/>
          <p:nvPr/>
        </p:nvSpPr>
        <p:spPr>
          <a:xfrm>
            <a:off x="457200" y="219456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EXERCISE 1  ·  6:30 – 7:00 PM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5"/>
          <p:cNvSpPr/>
          <p:nvPr/>
        </p:nvSpPr>
        <p:spPr>
          <a:xfrm>
            <a:off x="457200" y="420624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libri"/>
              <a:buNone/>
            </a:pPr>
            <a:r>
              <a:rPr lang="en-US" sz="4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Build Your Weekend Concierge</a:t>
            </a:r>
            <a:endParaRPr sz="4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5"/>
          <p:cNvSpPr/>
          <p:nvPr/>
        </p:nvSpPr>
        <p:spPr>
          <a:xfrm>
            <a:off x="457200" y="1234440"/>
            <a:ext cx="82296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B8F8"/>
              </a:buClr>
              <a:buSzPts val="1700"/>
              <a:buFont typeface="Calibri"/>
              <a:buNone/>
            </a:pPr>
            <a:r>
              <a:rPr lang="en-US" sz="1700" b="0" i="0" u="none" strike="noStrike" cap="none">
                <a:solidFill>
                  <a:srgbClr val="C8B8F8"/>
                </a:solidFill>
                <a:latin typeface="Calibri"/>
                <a:ea typeface="Calibri"/>
                <a:cs typeface="Calibri"/>
                <a:sym typeface="Calibri"/>
              </a:rPr>
              <a:t>Open your favorite AI. Tell your assistant about the trip you want.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5"/>
          <p:cNvSpPr/>
          <p:nvPr/>
        </p:nvSpPr>
        <p:spPr>
          <a:xfrm>
            <a:off x="457200" y="1874520"/>
            <a:ext cx="260604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lang="en-US" sz="1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🚘  Drive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5"/>
          <p:cNvSpPr/>
          <p:nvPr/>
        </p:nvSpPr>
        <p:spPr>
          <a:xfrm>
            <a:off x="3291840" y="1874520"/>
            <a:ext cx="260604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lang="en-US" sz="1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🏨  Airbnb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5"/>
          <p:cNvSpPr/>
          <p:nvPr/>
        </p:nvSpPr>
        <p:spPr>
          <a:xfrm>
            <a:off x="6126480" y="1874520"/>
            <a:ext cx="260604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lang="en-US" sz="1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🧘‍♀️  Getaways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5"/>
          <p:cNvSpPr/>
          <p:nvPr/>
        </p:nvSpPr>
        <p:spPr>
          <a:xfrm>
            <a:off x="457200" y="3136392"/>
            <a:ext cx="260604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lang="en-US" sz="1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🍽️  Restaurants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5"/>
          <p:cNvSpPr/>
          <p:nvPr/>
        </p:nvSpPr>
        <p:spPr>
          <a:xfrm>
            <a:off x="3291840" y="3136392"/>
            <a:ext cx="260604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lang="en-US" sz="1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🎭  Shows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5"/>
          <p:cNvSpPr/>
          <p:nvPr/>
        </p:nvSpPr>
        <p:spPr>
          <a:xfrm>
            <a:off x="6126480" y="3136392"/>
            <a:ext cx="260604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lang="en-US" sz="1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📍  Things To Do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5" name="Google Shape;235;p1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35240" y="4130287"/>
            <a:ext cx="1371600" cy="7937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626"/>
        </a:solidFill>
        <a:effectLst/>
      </p:bgPr>
    </p:bg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6"/>
          <p:cNvSpPr/>
          <p:nvPr/>
        </p:nvSpPr>
        <p:spPr>
          <a:xfrm>
            <a:off x="457200" y="219456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THE ASSISTANT RECIPE:  WHAT  ·  CONTEXT  ·  TARGET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6"/>
          <p:cNvSpPr/>
          <p:nvPr/>
        </p:nvSpPr>
        <p:spPr>
          <a:xfrm>
            <a:off x="457200" y="420624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libri"/>
              <a:buNone/>
            </a:pPr>
            <a:r>
              <a:rPr lang="en-US" sz="4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Tell Your Assistant What You Want</a:t>
            </a:r>
            <a:endParaRPr sz="4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6"/>
          <p:cNvSpPr/>
          <p:nvPr/>
        </p:nvSpPr>
        <p:spPr>
          <a:xfrm>
            <a:off x="411480" y="1279316"/>
            <a:ext cx="8229600" cy="2783293"/>
          </a:xfrm>
          <a:prstGeom prst="rect">
            <a:avLst/>
          </a:prstGeom>
          <a:solidFill>
            <a:srgbClr val="080215"/>
          </a:solidFill>
          <a:ln w="12700" cap="flat" cmpd="sng">
            <a:solidFill>
              <a:srgbClr val="33DD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6"/>
          <p:cNvSpPr/>
          <p:nvPr/>
        </p:nvSpPr>
        <p:spPr>
          <a:xfrm>
            <a:off x="658368" y="1389888"/>
            <a:ext cx="7818120" cy="2606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AAFFAA"/>
              </a:buClr>
              <a:buSzPts val="1150"/>
              <a:buFont typeface="Consolas"/>
              <a:buNone/>
            </a:pPr>
            <a:r>
              <a:rPr sz="1600" b="1" i="0">
                <a:solidFill>
                  <a:srgbClr val="F5A623"/>
                </a:solidFill>
                <a:latin typeface="Calibri"/>
              </a:rPr>
              <a:t>1. What do you want it to do?  </a:t>
            </a:r>
            <a:r>
              <a:rPr sz="1600" b="0" i="0">
                <a:solidFill>
                  <a:srgbClr val="FFFFFF"/>
                </a:solidFill>
                <a:latin typeface="Calibri"/>
              </a:rPr>
              <a:t>Plan a 4-day trip for two, from Atlanta to Chicago, November 12 to 15.</a:t>
            </a:r>
            <a:endParaRPr sz="11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F5A623"/>
                </a:solidFill>
                <a:latin typeface="Calibri"/>
              </a:rPr>
              <a:t>2. Context:  </a:t>
            </a:r>
            <a:r>
              <a:rPr sz="1600" b="0" i="0">
                <a:solidFill>
                  <a:srgbClr val="FFFFFF"/>
                </a:solidFill>
                <a:latin typeface="Calibri"/>
              </a:rPr>
              <a:t>We've never been there. We love museums, art, and natural history. Suggest what to see, where to eat, and the best area to stay.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F5A623"/>
                </a:solidFill>
                <a:latin typeface="Calibri"/>
              </a:rPr>
              <a:t>3. Target:  </a:t>
            </a:r>
            <a:r>
              <a:rPr sz="1600" b="0" i="0">
                <a:solidFill>
                  <a:srgbClr val="FFFFFF"/>
                </a:solidFill>
                <a:latin typeface="Calibri"/>
              </a:rPr>
              <a:t>Keep flights, hotel, and getting around under $1,200 for two, or as close as you can. Show me a day-by-day plan with prices.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F5A623"/>
                </a:solidFill>
                <a:latin typeface="Calibri"/>
              </a:rPr>
              <a:t>4. Questions:  </a:t>
            </a:r>
            <a:r>
              <a:rPr sz="1600" b="0" i="0">
                <a:solidFill>
                  <a:srgbClr val="FFFFFF"/>
                </a:solidFill>
                <a:latin typeface="Calibri"/>
              </a:rPr>
              <a:t>Ask me any questions that would help refine this before you start.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0" i="1">
                <a:solidFill>
                  <a:srgbClr val="C8B8F8"/>
                </a:solidFill>
                <a:latin typeface="Calibri"/>
              </a:rPr>
              <a:t>Say it the way you'd say it to a friend.</a:t>
            </a:r>
          </a:p>
        </p:txBody>
      </p:sp>
      <p:sp>
        <p:nvSpPr>
          <p:cNvPr id="253" name="Google Shape;253;p16"/>
          <p:cNvSpPr/>
          <p:nvPr/>
        </p:nvSpPr>
        <p:spPr>
          <a:xfrm>
            <a:off x="457200" y="4425696"/>
            <a:ext cx="82296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250"/>
              <a:buFont typeface="Calibri"/>
              <a:buNone/>
            </a:pPr>
            <a:r>
              <a:rPr lang="en-US" sz="1500" b="0" i="0" u="none" strike="noStrike" cap="non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💡  No need to say “act like a travel agent.” Just say what you want done.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4" name="Google Shape;254;p1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35240" y="4130287"/>
            <a:ext cx="1371600" cy="7937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626"/>
        </a:solidFill>
        <a:effectLst/>
      </p:bgPr>
    </p:bg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7"/>
          <p:cNvSpPr/>
          <p:nvPr/>
        </p:nvSpPr>
        <p:spPr>
          <a:xfrm>
            <a:off x="495886" y="1012698"/>
            <a:ext cx="83667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lang="en-US" sz="4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It’s Vibe Time!</a:t>
            </a: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7"/>
          <p:cNvSpPr/>
          <p:nvPr/>
        </p:nvSpPr>
        <p:spPr>
          <a:xfrm>
            <a:off x="5401994" y="2425446"/>
            <a:ext cx="3393831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B8F8"/>
              </a:buClr>
              <a:buSzPts val="3200"/>
              <a:buFont typeface="Calibri"/>
              <a:buNone/>
            </a:pPr>
            <a:r>
              <a:rPr lang="en-US" sz="3200" b="0" i="0" u="none" strike="noStrike" cap="none">
                <a:solidFill>
                  <a:srgbClr val="C8B8F8"/>
                </a:solidFill>
                <a:latin typeface="Calibri"/>
                <a:ea typeface="Calibri"/>
                <a:cs typeface="Calibri"/>
                <a:sym typeface="Calibri"/>
              </a:rPr>
              <a:t>What will your </a:t>
            </a:r>
            <a:r>
              <a:rPr lang="en-US" sz="3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assistant</a:t>
            </a:r>
            <a:r>
              <a:rPr lang="en-US" sz="3200" b="0" i="0" u="none" strike="noStrike" cap="none">
                <a:solidFill>
                  <a:srgbClr val="C8B8F8"/>
                </a:solidFill>
                <a:latin typeface="Calibri"/>
                <a:ea typeface="Calibri"/>
                <a:cs typeface="Calibri"/>
                <a:sym typeface="Calibri"/>
              </a:rPr>
              <a:t> do for you? 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2" name="Google Shape;262;p1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35240" y="4130287"/>
            <a:ext cx="1371600" cy="793757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17"/>
          <p:cNvSpPr/>
          <p:nvPr/>
        </p:nvSpPr>
        <p:spPr>
          <a:xfrm>
            <a:off x="457200" y="219456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EXERCISE 1  ·  6:30–7:00 PM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199DAD-B156-74C4-82C7-8C79BE2B21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7" y="8012"/>
            <a:ext cx="51435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626"/>
        </a:solid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3"/>
          <p:cNvSpPr/>
          <p:nvPr/>
        </p:nvSpPr>
        <p:spPr>
          <a:xfrm>
            <a:off x="457200" y="219456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PICK ONE YOU LIKE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3"/>
          <p:cNvSpPr/>
          <p:nvPr/>
        </p:nvSpPr>
        <p:spPr>
          <a:xfrm>
            <a:off x="457200" y="420624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libri"/>
              <a:buNone/>
            </a:pPr>
            <a:r>
              <a:rPr lang="en-US" sz="4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Four Tools to Vibe Code Tonight</a:t>
            </a:r>
            <a:endParaRPr sz="4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3"/>
          <p:cNvSpPr/>
          <p:nvPr/>
        </p:nvSpPr>
        <p:spPr>
          <a:xfrm>
            <a:off x="436098" y="4322311"/>
            <a:ext cx="82296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B8F8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C8B8F8"/>
                </a:solidFill>
                <a:latin typeface="Calibri"/>
                <a:ea typeface="Calibri"/>
                <a:cs typeface="Calibri"/>
                <a:sym typeface="Calibri"/>
              </a:rPr>
              <a:t>All free in your browser. Pick one you know, or try them all.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3"/>
          <p:cNvSpPr/>
          <p:nvPr/>
        </p:nvSpPr>
        <p:spPr>
          <a:xfrm>
            <a:off x="527538" y="1261150"/>
            <a:ext cx="14630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78A8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8878A8"/>
                </a:solidFill>
                <a:latin typeface="Calibri"/>
                <a:ea typeface="Calibri"/>
                <a:cs typeface="Calibri"/>
                <a:sym typeface="Calibri"/>
              </a:rPr>
              <a:t>Tool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3"/>
          <p:cNvSpPr/>
          <p:nvPr/>
        </p:nvSpPr>
        <p:spPr>
          <a:xfrm>
            <a:off x="2173458" y="1261150"/>
            <a:ext cx="21945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78A8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8878A8"/>
                </a:solidFill>
                <a:latin typeface="Calibri"/>
                <a:ea typeface="Calibri"/>
                <a:cs typeface="Calibri"/>
                <a:sym typeface="Calibri"/>
              </a:rPr>
              <a:t>Where to find it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3"/>
          <p:cNvSpPr/>
          <p:nvPr/>
        </p:nvSpPr>
        <p:spPr>
          <a:xfrm>
            <a:off x="4550898" y="1261150"/>
            <a:ext cx="42062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78A8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8878A8"/>
                </a:solidFill>
                <a:latin typeface="Calibri"/>
                <a:ea typeface="Calibri"/>
                <a:cs typeface="Calibri"/>
                <a:sym typeface="Calibri"/>
              </a:rPr>
              <a:t>Best for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3"/>
          <p:cNvSpPr/>
          <p:nvPr/>
        </p:nvSpPr>
        <p:spPr>
          <a:xfrm>
            <a:off x="527538" y="1608622"/>
            <a:ext cx="8229600" cy="27432"/>
          </a:xfrm>
          <a:prstGeom prst="rect">
            <a:avLst/>
          </a:prstGeom>
          <a:solidFill>
            <a:srgbClr val="8878A8">
              <a:alpha val="40000"/>
            </a:srgbClr>
          </a:solidFill>
          <a:ln w="12700" cap="flat" cmpd="sng">
            <a:solidFill>
              <a:srgbClr val="8878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3"/>
          <p:cNvSpPr/>
          <p:nvPr/>
        </p:nvSpPr>
        <p:spPr>
          <a:xfrm>
            <a:off x="527538" y="1718350"/>
            <a:ext cx="146304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Claude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3"/>
          <p:cNvSpPr/>
          <p:nvPr/>
        </p:nvSpPr>
        <p:spPr>
          <a:xfrm>
            <a:off x="2173458" y="1718350"/>
            <a:ext cx="219456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DDFF"/>
              </a:buClr>
              <a:buSzPts val="1300"/>
              <a:buFont typeface="Consolas"/>
              <a:buNone/>
            </a:pPr>
            <a:r>
              <a:rPr sz="1400" b="0" i="0">
                <a:solidFill>
                  <a:srgbClr val="33DDFF"/>
                </a:solidFill>
                <a:latin typeface="Calibri"/>
              </a:rPr>
              <a:t>claude.ai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3"/>
          <p:cNvSpPr/>
          <p:nvPr/>
        </p:nvSpPr>
        <p:spPr>
          <a:xfrm>
            <a:off x="4550898" y="1718350"/>
            <a:ext cx="420624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great writer and builder. Best for bigger apps and detailed instructions.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3"/>
          <p:cNvSpPr/>
          <p:nvPr/>
        </p:nvSpPr>
        <p:spPr>
          <a:xfrm>
            <a:off x="527538" y="2303566"/>
            <a:ext cx="8229600" cy="27432"/>
          </a:xfrm>
          <a:prstGeom prst="rect">
            <a:avLst/>
          </a:prstGeom>
          <a:solidFill>
            <a:srgbClr val="8878A8">
              <a:alpha val="40000"/>
            </a:srgbClr>
          </a:solidFill>
          <a:ln w="12700" cap="flat" cmpd="sng">
            <a:solidFill>
              <a:srgbClr val="8878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3"/>
          <p:cNvSpPr/>
          <p:nvPr/>
        </p:nvSpPr>
        <p:spPr>
          <a:xfrm>
            <a:off x="527538" y="2376718"/>
            <a:ext cx="146304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ChatGPT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3"/>
          <p:cNvSpPr/>
          <p:nvPr/>
        </p:nvSpPr>
        <p:spPr>
          <a:xfrm>
            <a:off x="2173458" y="2376718"/>
            <a:ext cx="219456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DDFF"/>
              </a:buClr>
              <a:buSzPts val="1300"/>
              <a:buFont typeface="Consolas"/>
              <a:buNone/>
            </a:pPr>
            <a:r>
              <a:rPr sz="1400" b="0" i="0">
                <a:solidFill>
                  <a:srgbClr val="33DDFF"/>
                </a:solidFill>
                <a:latin typeface="Calibri"/>
              </a:rPr>
              <a:t>chatgpt.com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3"/>
          <p:cNvSpPr/>
          <p:nvPr/>
        </p:nvSpPr>
        <p:spPr>
          <a:xfrm>
            <a:off x="4550898" y="2376718"/>
            <a:ext cx="420624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Fast and familiar. A good all-around helper.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3"/>
          <p:cNvSpPr/>
          <p:nvPr/>
        </p:nvSpPr>
        <p:spPr>
          <a:xfrm>
            <a:off x="527538" y="2961934"/>
            <a:ext cx="8229600" cy="27432"/>
          </a:xfrm>
          <a:prstGeom prst="rect">
            <a:avLst/>
          </a:prstGeom>
          <a:solidFill>
            <a:srgbClr val="8878A8">
              <a:alpha val="40000"/>
            </a:srgbClr>
          </a:solidFill>
          <a:ln w="12700" cap="flat" cmpd="sng">
            <a:solidFill>
              <a:srgbClr val="8878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3"/>
          <p:cNvSpPr/>
          <p:nvPr/>
        </p:nvSpPr>
        <p:spPr>
          <a:xfrm>
            <a:off x="527538" y="3035086"/>
            <a:ext cx="146304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Gemini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3"/>
          <p:cNvSpPr/>
          <p:nvPr/>
        </p:nvSpPr>
        <p:spPr>
          <a:xfrm>
            <a:off x="2173458" y="3035086"/>
            <a:ext cx="219456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DDFF"/>
              </a:buClr>
              <a:buSzPts val="1300"/>
              <a:buFont typeface="Consolas"/>
              <a:buNone/>
            </a:pPr>
            <a:r>
              <a:rPr sz="1400" b="0" i="0">
                <a:solidFill>
                  <a:srgbClr val="33DDFF"/>
                </a:solidFill>
                <a:latin typeface="Calibri"/>
              </a:rPr>
              <a:t>gemini.google.com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3"/>
          <p:cNvSpPr/>
          <p:nvPr/>
        </p:nvSpPr>
        <p:spPr>
          <a:xfrm>
            <a:off x="4550898" y="3035086"/>
            <a:ext cx="420624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Works with your Google account. Good for quick builds.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3"/>
          <p:cNvSpPr/>
          <p:nvPr/>
        </p:nvSpPr>
        <p:spPr>
          <a:xfrm>
            <a:off x="527538" y="3620302"/>
            <a:ext cx="8229600" cy="27432"/>
          </a:xfrm>
          <a:prstGeom prst="rect">
            <a:avLst/>
          </a:prstGeom>
          <a:solidFill>
            <a:srgbClr val="8878A8">
              <a:alpha val="40000"/>
            </a:srgbClr>
          </a:solidFill>
          <a:ln w="12700" cap="flat" cmpd="sng">
            <a:solidFill>
              <a:srgbClr val="8878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3"/>
          <p:cNvSpPr/>
          <p:nvPr/>
        </p:nvSpPr>
        <p:spPr>
          <a:xfrm>
            <a:off x="527538" y="3693454"/>
            <a:ext cx="146304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Perplexity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3"/>
          <p:cNvSpPr/>
          <p:nvPr/>
        </p:nvSpPr>
        <p:spPr>
          <a:xfrm>
            <a:off x="2173458" y="3693454"/>
            <a:ext cx="219456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DDFF"/>
              </a:buClr>
              <a:buSzPts val="1300"/>
              <a:buFont typeface="Consolas"/>
              <a:buNone/>
            </a:pPr>
            <a:r>
              <a:rPr sz="1400" b="0" i="0">
                <a:solidFill>
                  <a:srgbClr val="33DDFF"/>
                </a:solidFill>
                <a:latin typeface="Calibri"/>
              </a:rPr>
              <a:t>perplexity.ai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3"/>
          <p:cNvSpPr/>
          <p:nvPr/>
        </p:nvSpPr>
        <p:spPr>
          <a:xfrm>
            <a:off x="4550898" y="3693454"/>
            <a:ext cx="436450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Searches the web and shows its sources. Great for research.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9" name="Google Shape;199;p1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35240" y="4130287"/>
            <a:ext cx="1371600" cy="7937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626"/>
        </a:solidFill>
        <a:effectLst/>
      </p:bgPr>
    </p:bg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8"/>
          <p:cNvSpPr/>
          <p:nvPr/>
        </p:nvSpPr>
        <p:spPr>
          <a:xfrm>
            <a:off x="457200" y="219456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EXERCISE 2  ·  7:00 – 7:45 PM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8"/>
          <p:cNvSpPr/>
          <p:nvPr/>
        </p:nvSpPr>
        <p:spPr>
          <a:xfrm>
            <a:off x="457200" y="420624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libri"/>
              <a:buNone/>
            </a:pPr>
            <a:r>
              <a:rPr lang="en-US" sz="4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Build an App</a:t>
            </a:r>
            <a:endParaRPr sz="4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8"/>
          <p:cNvSpPr/>
          <p:nvPr/>
        </p:nvSpPr>
        <p:spPr>
          <a:xfrm>
            <a:off x="457200" y="1234440"/>
            <a:ext cx="82296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B8F8"/>
              </a:buClr>
              <a:buSzPts val="1700"/>
              <a:buFont typeface="Calibri"/>
              <a:buNone/>
            </a:pPr>
            <a:r>
              <a:rPr lang="en-US" sz="1700" b="0" i="0" u="none" strike="noStrike" cap="none">
                <a:solidFill>
                  <a:srgbClr val="C8B8F8"/>
                </a:solidFill>
                <a:latin typeface="Calibri"/>
                <a:ea typeface="Calibri"/>
                <a:cs typeface="Calibri"/>
                <a:sym typeface="Calibri"/>
              </a:rPr>
              <a:t>Context is the most important part. Give the AI the whole picture.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8"/>
          <p:cNvSpPr/>
          <p:nvPr/>
        </p:nvSpPr>
        <p:spPr>
          <a:xfrm>
            <a:off x="457200" y="1755648"/>
            <a:ext cx="8229600" cy="224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1300"/>
              </a:spcAft>
              <a:buClr>
                <a:srgbClr val="F5A623"/>
              </a:buClr>
              <a:buSzPts val="1900"/>
              <a:buFont typeface="Calibri"/>
              <a:buNone/>
            </a:pPr>
            <a:r>
              <a:rPr sz="1700" b="1" i="0">
                <a:solidFill>
                  <a:srgbClr val="F5A623"/>
                </a:solidFill>
                <a:latin typeface="Calibri"/>
              </a:rPr>
              <a:t>What and why:  </a:t>
            </a:r>
            <a:r>
              <a:rPr sz="1700" b="0" i="0">
                <a:solidFill>
                  <a:srgbClr val="FFFFFF"/>
                </a:solidFill>
                <a:latin typeface="Calibri"/>
              </a:rPr>
              <a:t>What are you building, and what problem does it solve?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F5A623"/>
                </a:solidFill>
                <a:latin typeface="Calibri"/>
              </a:rPr>
              <a:t>Who uses it:  </a:t>
            </a:r>
            <a:r>
              <a:rPr sz="1700" b="0" i="0">
                <a:solidFill>
                  <a:srgbClr val="FFFFFF"/>
                </a:solidFill>
                <a:latin typeface="Calibri"/>
              </a:rPr>
              <a:t>Just you? Your team? Your kids?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F5A623"/>
                </a:solidFill>
                <a:latin typeface="Calibri"/>
              </a:rPr>
              <a:t>How it looks:  </a:t>
            </a:r>
            <a:r>
              <a:rPr sz="1700" b="0" i="0">
                <a:solidFill>
                  <a:srgbClr val="FFFFFF"/>
                </a:solidFill>
                <a:latin typeface="Calibri"/>
              </a:rPr>
              <a:t>iPhone, web, or both? Simple or detailed? Any colors you love?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F5A623"/>
                </a:solidFill>
                <a:latin typeface="Calibri"/>
              </a:rPr>
              <a:t>What good looks like:  </a:t>
            </a:r>
            <a:r>
              <a:rPr sz="1700" b="0" i="0">
                <a:solidFill>
                  <a:srgbClr val="FFFFFF"/>
                </a:solidFill>
                <a:latin typeface="Calibri"/>
              </a:rPr>
              <a:t>When it works, what do you see? Describe the finished app.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F5A623"/>
                </a:solidFill>
                <a:latin typeface="Calibri"/>
              </a:rPr>
              <a:t>Questions:  </a:t>
            </a:r>
            <a:r>
              <a:rPr sz="1700" b="0" i="0">
                <a:solidFill>
                  <a:srgbClr val="FFFFFF"/>
                </a:solidFill>
                <a:latin typeface="Calibri"/>
              </a:rPr>
              <a:t>Ask me questions along the way if you're unsure. Don't guess.</a:t>
            </a:r>
          </a:p>
        </p:txBody>
      </p:sp>
      <p:sp>
        <p:nvSpPr>
          <p:cNvPr id="275" name="Google Shape;275;p18"/>
          <p:cNvSpPr/>
          <p:nvPr/>
        </p:nvSpPr>
        <p:spPr>
          <a:xfrm>
            <a:off x="457200" y="4187952"/>
            <a:ext cx="6949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sz="1400" b="0" i="1">
                <a:solidFill>
                  <a:srgbClr val="C8B8F8"/>
                </a:solidFill>
                <a:latin typeface="Calibri"/>
              </a:rPr>
              <a:t>Have an idea? Use it. No idea? The next slide has three ready-made ones.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p1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35240" y="4130287"/>
            <a:ext cx="1371600" cy="7937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626"/>
        </a:solidFill>
        <a:effectLst/>
      </p:bgPr>
    </p:bg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9"/>
          <p:cNvSpPr/>
          <p:nvPr/>
        </p:nvSpPr>
        <p:spPr>
          <a:xfrm>
            <a:off x="457200" y="219456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NO IDEA? START HERE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9"/>
          <p:cNvSpPr/>
          <p:nvPr/>
        </p:nvSpPr>
        <p:spPr>
          <a:xfrm>
            <a:off x="457200" y="420624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libri"/>
              <a:buNone/>
            </a:pPr>
            <a:r>
              <a:rPr lang="en-US" sz="4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 Starter Ideas</a:t>
            </a:r>
            <a:endParaRPr sz="4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9"/>
          <p:cNvSpPr/>
          <p:nvPr/>
        </p:nvSpPr>
        <p:spPr>
          <a:xfrm>
            <a:off x="457200" y="1280160"/>
            <a:ext cx="8229600" cy="27432"/>
          </a:xfrm>
          <a:prstGeom prst="rect">
            <a:avLst/>
          </a:prstGeom>
          <a:solidFill>
            <a:srgbClr val="8878A8">
              <a:alpha val="40000"/>
            </a:srgbClr>
          </a:solidFill>
          <a:ln w="12700" cap="flat" cmpd="sng">
            <a:solidFill>
              <a:srgbClr val="8878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9"/>
          <p:cNvSpPr/>
          <p:nvPr/>
        </p:nvSpPr>
        <p:spPr>
          <a:xfrm>
            <a:off x="457200" y="1353312"/>
            <a:ext cx="70408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600"/>
              <a:buFont typeface="Calibri"/>
              <a:buNone/>
            </a:pPr>
            <a:r>
              <a:rPr sz="1600" b="1" i="0">
                <a:solidFill>
                  <a:srgbClr val="F5A623"/>
                </a:solidFill>
                <a:latin typeface="Calibri"/>
              </a:rPr>
              <a:t>🏃  Health Tracker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9"/>
          <p:cNvSpPr/>
          <p:nvPr/>
        </p:nvSpPr>
        <p:spPr>
          <a:xfrm>
            <a:off x="457200" y="1682495"/>
            <a:ext cx="70408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FFAA"/>
              </a:buClr>
              <a:buSzPts val="1100"/>
              <a:buFont typeface="Consolas"/>
              <a:buNone/>
            </a:pPr>
            <a:r>
              <a:rPr sz="1300" b="0" i="0">
                <a:solidFill>
                  <a:srgbClr val="FFFFFF"/>
                </a:solidFill>
                <a:latin typeface="Calibri"/>
              </a:rPr>
              <a:t>I want a simple iPhone app to log my workouts so I stay consistent. Just for me. Big buttons, calm blue colors. Good looks like: one tap to log, and I see my weekly streak.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9"/>
          <p:cNvSpPr/>
          <p:nvPr/>
        </p:nvSpPr>
        <p:spPr>
          <a:xfrm>
            <a:off x="457200" y="2267712"/>
            <a:ext cx="8229600" cy="27432"/>
          </a:xfrm>
          <a:prstGeom prst="rect">
            <a:avLst/>
          </a:prstGeom>
          <a:solidFill>
            <a:srgbClr val="8878A8">
              <a:alpha val="40000"/>
            </a:srgbClr>
          </a:solidFill>
          <a:ln w="12700" cap="flat" cmpd="sng">
            <a:solidFill>
              <a:srgbClr val="8878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9"/>
          <p:cNvSpPr/>
          <p:nvPr/>
        </p:nvSpPr>
        <p:spPr>
          <a:xfrm>
            <a:off x="457200" y="2340864"/>
            <a:ext cx="70408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600"/>
              <a:buFont typeface="Calibri"/>
              <a:buNone/>
            </a:pPr>
            <a:r>
              <a:rPr sz="1600" b="1" i="0">
                <a:solidFill>
                  <a:srgbClr val="F5A623"/>
                </a:solidFill>
                <a:latin typeface="Calibri"/>
              </a:rPr>
              <a:t>📞  Sales Activity Tracker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9"/>
          <p:cNvSpPr/>
          <p:nvPr/>
        </p:nvSpPr>
        <p:spPr>
          <a:xfrm>
            <a:off x="457200" y="2670048"/>
            <a:ext cx="70408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FFAA"/>
              </a:buClr>
              <a:buSzPts val="1100"/>
              <a:buFont typeface="Consolas"/>
              <a:buNone/>
            </a:pPr>
            <a:r>
              <a:rPr sz="1300" b="0" i="0">
                <a:solidFill>
                  <a:srgbClr val="FFFFFF"/>
                </a:solidFill>
                <a:latin typeface="Calibri"/>
              </a:rPr>
              <a:t>I want a web app to log my sales calls and follow-ups so nothing slips. For me and my team. Clean and simple, works on phone and laptop. Good looks like: my week on one screen.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9"/>
          <p:cNvSpPr/>
          <p:nvPr/>
        </p:nvSpPr>
        <p:spPr>
          <a:xfrm>
            <a:off x="457200" y="3255264"/>
            <a:ext cx="8229600" cy="27432"/>
          </a:xfrm>
          <a:prstGeom prst="rect">
            <a:avLst/>
          </a:prstGeom>
          <a:solidFill>
            <a:srgbClr val="8878A8">
              <a:alpha val="40000"/>
            </a:srgbClr>
          </a:solidFill>
          <a:ln w="12700" cap="flat" cmpd="sng">
            <a:solidFill>
              <a:srgbClr val="8878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9"/>
          <p:cNvSpPr/>
          <p:nvPr/>
        </p:nvSpPr>
        <p:spPr>
          <a:xfrm>
            <a:off x="457200" y="3328416"/>
            <a:ext cx="70408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600"/>
              <a:buFont typeface="Calibri"/>
              <a:buNone/>
            </a:pPr>
            <a:r>
              <a:rPr sz="1600" b="1" i="0">
                <a:solidFill>
                  <a:srgbClr val="F5A623"/>
                </a:solidFill>
                <a:latin typeface="Calibri"/>
              </a:rPr>
              <a:t>🎮  Mini Game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9"/>
          <p:cNvSpPr/>
          <p:nvPr/>
        </p:nvSpPr>
        <p:spPr>
          <a:xfrm>
            <a:off x="457200" y="3657600"/>
            <a:ext cx="70408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FFAA"/>
              </a:buClr>
              <a:buSzPts val="1100"/>
              <a:buFont typeface="Consolas"/>
              <a:buNone/>
            </a:pPr>
            <a:r>
              <a:rPr sz="1300" b="0" i="0">
                <a:solidFill>
                  <a:srgbClr val="FFFFFF"/>
                </a:solidFill>
                <a:latin typeface="Calibri"/>
              </a:rPr>
              <a:t>I want a word guessing game my family can play in the browser. Five-letter words, six guesses. Bright colors, easy for kids. Good looks like: we play a round in two minutes.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3" name="Google Shape;303;p1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35240" y="4130287"/>
            <a:ext cx="1371600" cy="7937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626"/>
        </a:solidFill>
        <a:effectLst/>
      </p:bgPr>
    </p:bg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0"/>
          <p:cNvSpPr/>
          <p:nvPr/>
        </p:nvSpPr>
        <p:spPr>
          <a:xfrm>
            <a:off x="495886" y="1012698"/>
            <a:ext cx="83667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lang="en-US" sz="4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It’s Vibe Time!</a:t>
            </a: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0"/>
          <p:cNvSpPr/>
          <p:nvPr/>
        </p:nvSpPr>
        <p:spPr>
          <a:xfrm>
            <a:off x="5401994" y="2425446"/>
            <a:ext cx="3393831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B8F8"/>
              </a:buClr>
              <a:buSzPts val="3200"/>
              <a:buFont typeface="Calibri"/>
              <a:buNone/>
            </a:pPr>
            <a:r>
              <a:rPr lang="en-US" sz="3200" b="0" i="0" u="none" strike="noStrike" cap="none">
                <a:solidFill>
                  <a:srgbClr val="C8B8F8"/>
                </a:solidFill>
                <a:latin typeface="Calibri"/>
                <a:ea typeface="Calibri"/>
                <a:cs typeface="Calibri"/>
                <a:sym typeface="Calibri"/>
              </a:rPr>
              <a:t>What will your </a:t>
            </a:r>
            <a:r>
              <a:rPr lang="en-US" sz="3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app</a:t>
            </a:r>
            <a:r>
              <a:rPr lang="en-US" sz="3200" b="0" i="0" u="none" strike="noStrike" cap="none">
                <a:solidFill>
                  <a:srgbClr val="C8B8F8"/>
                </a:solidFill>
                <a:latin typeface="Calibri"/>
                <a:ea typeface="Calibri"/>
                <a:cs typeface="Calibri"/>
                <a:sym typeface="Calibri"/>
              </a:rPr>
              <a:t> do for you? 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1" name="Google Shape;311;p2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35240" y="4130287"/>
            <a:ext cx="1371600" cy="793757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20"/>
          <p:cNvSpPr/>
          <p:nvPr/>
        </p:nvSpPr>
        <p:spPr>
          <a:xfrm>
            <a:off x="457200" y="219456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EXERCISE 2  · 7:00 – 7:45 PM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 descr="A poster for a event&#10;&#10;AI-generated content may be incorrect.">
            <a:extLst>
              <a:ext uri="{FF2B5EF4-FFF2-40B4-BE49-F238E27FC236}">
                <a16:creationId xmlns:a16="http://schemas.microsoft.com/office/drawing/2014/main" id="{D3BAA653-15C9-B21A-F8E3-8F2FE4165E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427"/>
            <a:ext cx="51435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626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1"/>
          <p:cNvSpPr/>
          <p:nvPr/>
        </p:nvSpPr>
        <p:spPr>
          <a:xfrm>
            <a:off x="457200" y="219456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7:45 – 8:30 PM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1"/>
          <p:cNvSpPr/>
          <p:nvPr/>
        </p:nvSpPr>
        <p:spPr>
          <a:xfrm>
            <a:off x="457200" y="347472"/>
            <a:ext cx="822960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libri"/>
              <a:buNone/>
            </a:pPr>
            <a:r>
              <a:rPr lang="en-US" sz="5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Did You Build?</a:t>
            </a:r>
            <a:endParaRPr sz="5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1"/>
          <p:cNvSpPr/>
          <p:nvPr/>
        </p:nvSpPr>
        <p:spPr>
          <a:xfrm>
            <a:off x="457200" y="1389888"/>
            <a:ext cx="822960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B8F8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C8B8F8"/>
                </a:solidFill>
                <a:latin typeface="Calibri"/>
                <a:ea typeface="Calibri"/>
                <a:cs typeface="Calibri"/>
                <a:sym typeface="Calibri"/>
              </a:rPr>
              <a:t>Open mic. Share your screen. Show the room what happened.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1"/>
          <p:cNvSpPr/>
          <p:nvPr/>
        </p:nvSpPr>
        <p:spPr>
          <a:xfrm>
            <a:off x="914400" y="1956816"/>
            <a:ext cx="7315200" cy="27432"/>
          </a:xfrm>
          <a:prstGeom prst="rect">
            <a:avLst/>
          </a:prstGeom>
          <a:solidFill>
            <a:srgbClr val="8878A8">
              <a:alpha val="40000"/>
            </a:srgbClr>
          </a:solidFill>
          <a:ln w="12700" cap="flat" cmpd="sng">
            <a:solidFill>
              <a:srgbClr val="8878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1"/>
          <p:cNvSpPr/>
          <p:nvPr/>
        </p:nvSpPr>
        <p:spPr>
          <a:xfrm>
            <a:off x="457200" y="2103120"/>
            <a:ext cx="2651760" cy="804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What did you build?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1"/>
          <p:cNvSpPr/>
          <p:nvPr/>
        </p:nvSpPr>
        <p:spPr>
          <a:xfrm>
            <a:off x="3337560" y="2103120"/>
            <a:ext cx="2651760" cy="804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DDF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33DDFF"/>
                </a:solidFill>
                <a:latin typeface="Calibri"/>
                <a:ea typeface="Calibri"/>
                <a:cs typeface="Calibri"/>
                <a:sym typeface="Calibri"/>
              </a:rPr>
              <a:t>What surprised you?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1"/>
          <p:cNvSpPr/>
          <p:nvPr/>
        </p:nvSpPr>
        <p:spPr>
          <a:xfrm>
            <a:off x="6217920" y="2103120"/>
            <a:ext cx="2651760" cy="804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B8F8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C8B8F8"/>
                </a:solidFill>
                <a:latin typeface="Calibri"/>
                <a:ea typeface="Calibri"/>
                <a:cs typeface="Calibri"/>
                <a:sym typeface="Calibri"/>
              </a:rPr>
              <a:t>What would you do next?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1"/>
          <p:cNvSpPr/>
          <p:nvPr/>
        </p:nvSpPr>
        <p:spPr>
          <a:xfrm>
            <a:off x="914400" y="3054096"/>
            <a:ext cx="7315200" cy="27432"/>
          </a:xfrm>
          <a:prstGeom prst="rect">
            <a:avLst/>
          </a:prstGeom>
          <a:solidFill>
            <a:srgbClr val="8878A8">
              <a:alpha val="40000"/>
            </a:srgbClr>
          </a:solidFill>
          <a:ln w="12700" cap="flat" cmpd="sng">
            <a:solidFill>
              <a:srgbClr val="8878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1"/>
          <p:cNvSpPr/>
          <p:nvPr/>
        </p:nvSpPr>
        <p:spPr>
          <a:xfrm>
            <a:off x="457200" y="3218688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You just vibe coded.  You're </a:t>
            </a:r>
            <a:r>
              <a:rPr lang="en-US" sz="2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almost</a:t>
            </a:r>
            <a:r>
              <a:rPr lang="en-US" sz="2800" b="1" i="0" u="none" strike="noStrike" cap="non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 a builder now.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1"/>
          <p:cNvSpPr/>
          <p:nvPr/>
        </p:nvSpPr>
        <p:spPr>
          <a:xfrm>
            <a:off x="457200" y="3931920"/>
            <a:ext cx="82296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78A8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8878A8"/>
                </a:solidFill>
                <a:latin typeface="Calibri"/>
                <a:ea typeface="Calibri"/>
                <a:cs typeface="Calibri"/>
                <a:sym typeface="Calibri"/>
              </a:rPr>
              <a:t>Same time next month. Watch your inbox.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9" name="Google Shape;329;p2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35240" y="4130287"/>
            <a:ext cx="1371600" cy="7937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626"/>
        </a:solidFill>
        <a:effectLst/>
      </p:bgPr>
    </p:bg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2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20640" y="365760"/>
            <a:ext cx="3657600" cy="2116686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22"/>
          <p:cNvSpPr/>
          <p:nvPr/>
        </p:nvSpPr>
        <p:spPr>
          <a:xfrm>
            <a:off x="457200" y="420624"/>
            <a:ext cx="457200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libri"/>
              <a:buNone/>
            </a:pPr>
            <a:r>
              <a:rPr lang="en-US" sz="4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What's Next</a:t>
            </a:r>
            <a:endParaRPr sz="4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2"/>
          <p:cNvSpPr/>
          <p:nvPr/>
        </p:nvSpPr>
        <p:spPr>
          <a:xfrm>
            <a:off x="457200" y="1371600"/>
            <a:ext cx="4389120" cy="27432"/>
          </a:xfrm>
          <a:prstGeom prst="rect">
            <a:avLst/>
          </a:prstGeom>
          <a:solidFill>
            <a:srgbClr val="8878A8">
              <a:alpha val="40000"/>
            </a:srgbClr>
          </a:solidFill>
          <a:ln w="12700" cap="flat" cmpd="sng">
            <a:solidFill>
              <a:srgbClr val="8878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2"/>
          <p:cNvSpPr/>
          <p:nvPr/>
        </p:nvSpPr>
        <p:spPr>
          <a:xfrm>
            <a:off x="457200" y="1463040"/>
            <a:ext cx="43891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600"/>
              <a:buFont typeface="Calibri"/>
              <a:buNone/>
            </a:pPr>
            <a:r>
              <a:rPr lang="en-US" sz="1600" b="1" i="0" u="none" strike="noStrike" cap="none" dirty="0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📅  Next Vibe Nights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2"/>
          <p:cNvSpPr/>
          <p:nvPr/>
        </p:nvSpPr>
        <p:spPr>
          <a:xfrm>
            <a:off x="457200" y="1883664"/>
            <a:ext cx="43891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{{NEXT_VN}}</a:t>
            </a:r>
            <a:r>
              <a:rPr lang="en-US" sz="1300" b="0" i="0" u="none" strike="noStrike" cap="none" baseline="300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sz="13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sz="13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r>
              <a:rPr lang="en-US" sz="13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2"/>
          <p:cNvSpPr/>
          <p:nvPr/>
        </p:nvSpPr>
        <p:spPr>
          <a:xfrm>
            <a:off x="457200" y="2450592"/>
            <a:ext cx="4389120" cy="27432"/>
          </a:xfrm>
          <a:prstGeom prst="rect">
            <a:avLst/>
          </a:prstGeom>
          <a:solidFill>
            <a:srgbClr val="8878A8">
              <a:alpha val="40000"/>
            </a:srgbClr>
          </a:solidFill>
          <a:ln w="12700" cap="flat" cmpd="sng">
            <a:solidFill>
              <a:srgbClr val="8878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2"/>
          <p:cNvSpPr/>
          <p:nvPr/>
        </p:nvSpPr>
        <p:spPr>
          <a:xfrm>
            <a:off x="457200" y="2542032"/>
            <a:ext cx="43891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DD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33DDFF"/>
                </a:solidFill>
                <a:latin typeface="Calibri"/>
                <a:ea typeface="Calibri"/>
                <a:cs typeface="Calibri"/>
                <a:sym typeface="Calibri"/>
              </a:rPr>
              <a:t>🌐  AIC Atlanta Membership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2"/>
          <p:cNvSpPr/>
          <p:nvPr/>
        </p:nvSpPr>
        <p:spPr>
          <a:xfrm>
            <a:off x="457200" y="2962656"/>
            <a:ext cx="43891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Free. You joined tonight. Stay connected at </a:t>
            </a:r>
            <a:r>
              <a:rPr lang="en-US" sz="130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aicollective.com</a:t>
            </a:r>
            <a:r>
              <a:rPr lang="en-US" sz="13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/chapters/</a:t>
            </a:r>
            <a:r>
              <a:rPr lang="en-US" sz="1300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atlanta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2"/>
          <p:cNvSpPr/>
          <p:nvPr/>
        </p:nvSpPr>
        <p:spPr>
          <a:xfrm>
            <a:off x="457200" y="3529584"/>
            <a:ext cx="4389120" cy="27432"/>
          </a:xfrm>
          <a:prstGeom prst="rect">
            <a:avLst/>
          </a:prstGeom>
          <a:solidFill>
            <a:srgbClr val="8878A8">
              <a:alpha val="40000"/>
            </a:srgbClr>
          </a:solidFill>
          <a:ln w="12700" cap="flat" cmpd="sng">
            <a:solidFill>
              <a:srgbClr val="8878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2"/>
          <p:cNvSpPr/>
          <p:nvPr/>
        </p:nvSpPr>
        <p:spPr>
          <a:xfrm>
            <a:off x="457200" y="3584448"/>
            <a:ext cx="5577840" cy="1024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C8B8F8"/>
              </a:buClr>
              <a:buSzPts val="1600"/>
              <a:buFont typeface="Calibri"/>
              <a:buNone/>
            </a:pPr>
            <a:r>
              <a:rPr sz="1200" b="1" i="0">
                <a:solidFill>
                  <a:srgbClr val="F5A623"/>
                </a:solidFill>
                <a:latin typeface="Calibri"/>
              </a:rPr>
              <a:t>{{EV1_NAME}}</a:t>
            </a:r>
            <a:r>
              <a:rPr sz="1100" b="0" i="0">
                <a:solidFill>
                  <a:srgbClr val="FFFFFF"/>
                </a:solidFill>
                <a:latin typeface="Calibri"/>
              </a:rPr>
              <a:t>{{EV1_SEP}}{{EV1_DETAILS}}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5A623"/>
                </a:solidFill>
                <a:latin typeface="Calibri"/>
              </a:rPr>
              <a:t>{{EV2_NAME}}</a:t>
            </a:r>
            <a:r>
              <a:rPr sz="1100" b="0" i="0">
                <a:solidFill>
                  <a:srgbClr val="FFFFFF"/>
                </a:solidFill>
                <a:latin typeface="Calibri"/>
              </a:rPr>
              <a:t>{{EV2_SEP}}{{EV2_DETAILS}}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5A623"/>
                </a:solidFill>
                <a:latin typeface="Calibri"/>
              </a:rPr>
              <a:t>{{EV3_NAME}}</a:t>
            </a:r>
            <a:r>
              <a:rPr sz="1100" b="0" i="0">
                <a:solidFill>
                  <a:srgbClr val="FFFFFF"/>
                </a:solidFill>
                <a:latin typeface="Calibri"/>
              </a:rPr>
              <a:t>{{EV3_SEP}}{{EV3_DETAILS}}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5A623"/>
                </a:solidFill>
                <a:latin typeface="Calibri"/>
              </a:rPr>
              <a:t>{{EV4_NAME}}</a:t>
            </a:r>
            <a:r>
              <a:rPr sz="1100" b="0" i="0">
                <a:solidFill>
                  <a:srgbClr val="FFFFFF"/>
                </a:solidFill>
                <a:latin typeface="Calibri"/>
              </a:rPr>
              <a:t>{{EV4_SEP}}{{EV4_DETAILS}}</a:t>
            </a:r>
          </a:p>
        </p:txBody>
      </p:sp>
      <p:sp>
        <p:nvSpPr>
          <p:cNvPr id="346" name="Google Shape;346;p22"/>
          <p:cNvSpPr/>
          <p:nvPr/>
        </p:nvSpPr>
        <p:spPr>
          <a:xfrm>
            <a:off x="457200" y="4681728"/>
            <a:ext cx="4389120" cy="27432"/>
          </a:xfrm>
          <a:prstGeom prst="rect">
            <a:avLst/>
          </a:prstGeom>
          <a:solidFill>
            <a:srgbClr val="8878A8">
              <a:alpha val="40000"/>
            </a:srgbClr>
          </a:solidFill>
          <a:ln w="12700" cap="flat" cmpd="sng">
            <a:solidFill>
              <a:srgbClr val="8878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2"/>
          <p:cNvSpPr/>
          <p:nvPr/>
        </p:nvSpPr>
        <p:spPr>
          <a:xfrm>
            <a:off x="457200" y="4736592"/>
            <a:ext cx="43891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78A8"/>
              </a:buClr>
              <a:buSzPts val="1300"/>
              <a:buFont typeface="Calibri"/>
              <a:buNone/>
            </a:pPr>
            <a:r>
              <a:rPr lang="en-US" sz="1300" b="0" i="1" u="none" strike="noStrike" cap="none">
                <a:solidFill>
                  <a:srgbClr val="8878A8"/>
                </a:solidFill>
                <a:latin typeface="Calibri"/>
                <a:ea typeface="Calibri"/>
                <a:cs typeface="Calibri"/>
                <a:sym typeface="Calibri"/>
              </a:rPr>
              <a:t>Thanks for being here tonight.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2"/>
          <p:cNvSpPr txBox="1"/>
          <p:nvPr/>
        </p:nvSpPr>
        <p:spPr>
          <a:xfrm>
            <a:off x="5212651" y="4483060"/>
            <a:ext cx="3653564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Chapter Page</a:t>
            </a: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9" name="Google Shape;349;p22" descr="A qr code with a logo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 l="31143" t="36622" r="30901" b="36444"/>
          <a:stretch/>
        </p:blipFill>
        <p:spPr>
          <a:xfrm>
            <a:off x="6216163" y="2864723"/>
            <a:ext cx="1646540" cy="16524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10867</TotalTime>
  <Words>1448</Words>
  <Application>Microsoft Macintosh PowerPoint</Application>
  <PresentationFormat>On-screen Show (16:9)</PresentationFormat>
  <Paragraphs>213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Consolas</vt:lpstr>
      <vt:lpstr>Georgia</vt:lpstr>
      <vt:lpstr>Office Theme</vt:lpstr>
      <vt:lpstr>PowerPoint Presentation</vt:lpstr>
      <vt:lpstr>Welcome Everyone! </vt:lpstr>
      <vt:lpstr>Our Mission</vt:lpstr>
      <vt:lpstr>PowerPoint Presentation</vt:lpstr>
      <vt:lpstr>Local Impact Global Scale </vt:lpstr>
      <vt:lpstr>The AI Collective - Atlanta - Team </vt:lpstr>
      <vt:lpstr>Types of Events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cp:lastModifiedBy>Mark Michelson</cp:lastModifiedBy>
  <cp:revision>5</cp:revision>
  <dcterms:created xsi:type="dcterms:W3CDTF">2026-05-09T03:22:42Z</dcterms:created>
  <dcterms:modified xsi:type="dcterms:W3CDTF">2026-10-13T14:31:46Z</dcterms:modified>
</cp:coreProperties>
</file>